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9" r:id="rId8"/>
    <p:sldId id="267" r:id="rId9"/>
    <p:sldId id="271" r:id="rId10"/>
    <p:sldId id="266" r:id="rId11"/>
    <p:sldId id="260" r:id="rId12"/>
    <p:sldId id="262"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62" autoAdjust="0"/>
    <p:restoredTop sz="94660"/>
  </p:normalViewPr>
  <p:slideViewPr>
    <p:cSldViewPr snapToGrid="0">
      <p:cViewPr>
        <p:scale>
          <a:sx n="70" d="100"/>
          <a:sy n="70" d="100"/>
        </p:scale>
        <p:origin x="-456" y="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42938" y="905948"/>
            <a:ext cx="9144000" cy="1930401"/>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3600" b="1" dirty="0" smtClean="0">
                <a:solidFill>
                  <a:srgbClr val="C00000"/>
                </a:solidFill>
                <a:latin typeface="+mn-lt"/>
              </a:rPr>
              <a:t>Data Structures and Algorithms -3 (25CS2103E)</a:t>
            </a: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	</a:t>
            </a:r>
            <a:r>
              <a:rPr lang="en-US" sz="3200" b="1" dirty="0">
                <a:latin typeface="Times New Roman" pitchFamily="18" charset="0"/>
                <a:cs typeface="Times New Roman" pitchFamily="18" charset="0"/>
              </a:rPr>
              <a:t>Smart Healthcare Resource &amp; Emergency Management </a:t>
            </a:r>
            <a:r>
              <a:rPr lang="en-US" sz="3200" b="1" dirty="0" smtClean="0">
                <a:latin typeface="Times New Roman" pitchFamily="18" charset="0"/>
                <a:cs typeface="Times New Roman" pitchFamily="18" charset="0"/>
              </a:rPr>
              <a:t>System</a:t>
            </a:r>
            <a:endParaRPr lang="en-US" sz="4000" b="1" dirty="0">
              <a:solidFill>
                <a:srgbClr val="C00000"/>
              </a:solidFill>
              <a:latin typeface="+mn-lt"/>
            </a:endParaRPr>
          </a:p>
        </p:txBody>
      </p:sp>
      <p:sp>
        <p:nvSpPr>
          <p:cNvPr id="3" name="Subtitle 2"/>
          <p:cNvSpPr>
            <a:spLocks noGrp="1"/>
          </p:cNvSpPr>
          <p:nvPr>
            <p:ph type="subTitle" idx="1"/>
          </p:nvPr>
        </p:nvSpPr>
        <p:spPr>
          <a:xfrm>
            <a:off x="3327398" y="3064947"/>
            <a:ext cx="6790267" cy="1582137"/>
          </a:xfrm>
        </p:spPr>
        <p:txBody>
          <a:bodyPr/>
          <a:lstStyle/>
          <a:p>
            <a:r>
              <a:rPr lang="en-US" dirty="0">
                <a:solidFill>
                  <a:srgbClr val="0070C0"/>
                </a:solidFill>
                <a:latin typeface="Times New Roman" pitchFamily="18" charset="0"/>
                <a:cs typeface="Times New Roman" pitchFamily="18" charset="0"/>
              </a:rPr>
              <a:t>Team </a:t>
            </a:r>
            <a:r>
              <a:rPr lang="en-US" dirty="0" smtClean="0">
                <a:solidFill>
                  <a:srgbClr val="0070C0"/>
                </a:solidFill>
                <a:latin typeface="Times New Roman" pitchFamily="18" charset="0"/>
                <a:cs typeface="Times New Roman" pitchFamily="18" charset="0"/>
              </a:rPr>
              <a:t>Members :</a:t>
            </a:r>
            <a:endParaRPr lang="en-US" dirty="0">
              <a:solidFill>
                <a:srgbClr val="0070C0"/>
              </a:solidFill>
              <a:latin typeface="Times New Roman" pitchFamily="18" charset="0"/>
              <a:cs typeface="Times New Roman" pitchFamily="18" charset="0"/>
            </a:endParaRPr>
          </a:p>
          <a:p>
            <a:r>
              <a:rPr lang="en-US" sz="1800" dirty="0" smtClean="0">
                <a:solidFill>
                  <a:srgbClr val="0070C0"/>
                </a:solidFill>
                <a:latin typeface="Times New Roman" pitchFamily="18" charset="0"/>
                <a:cs typeface="Times New Roman" pitchFamily="18" charset="0"/>
              </a:rPr>
              <a:t>Name : M </a:t>
            </a:r>
            <a:r>
              <a:rPr lang="en-US" sz="1800" dirty="0" err="1" smtClean="0">
                <a:solidFill>
                  <a:srgbClr val="0070C0"/>
                </a:solidFill>
                <a:latin typeface="Times New Roman" pitchFamily="18" charset="0"/>
                <a:cs typeface="Times New Roman" pitchFamily="18" charset="0"/>
              </a:rPr>
              <a:t>Ramya</a:t>
            </a:r>
            <a:r>
              <a:rPr lang="en-US" sz="1800" dirty="0" smtClean="0">
                <a:solidFill>
                  <a:srgbClr val="0070C0"/>
                </a:solidFill>
                <a:latin typeface="Times New Roman" pitchFamily="18" charset="0"/>
                <a:cs typeface="Times New Roman" pitchFamily="18" charset="0"/>
              </a:rPr>
              <a:t> </a:t>
            </a:r>
            <a:r>
              <a:rPr lang="en-US" sz="1800" dirty="0" err="1" smtClean="0">
                <a:solidFill>
                  <a:srgbClr val="0070C0"/>
                </a:solidFill>
                <a:latin typeface="Times New Roman" pitchFamily="18" charset="0"/>
                <a:cs typeface="Times New Roman" pitchFamily="18" charset="0"/>
              </a:rPr>
              <a:t>Sree</a:t>
            </a:r>
            <a:r>
              <a:rPr lang="en-US" sz="1800" dirty="0" smtClean="0">
                <a:solidFill>
                  <a:srgbClr val="0070C0"/>
                </a:solidFill>
                <a:latin typeface="Times New Roman" pitchFamily="18" charset="0"/>
                <a:cs typeface="Times New Roman" pitchFamily="18" charset="0"/>
              </a:rPr>
              <a:t>                 Roll No : 2520030094</a:t>
            </a:r>
          </a:p>
          <a:p>
            <a:r>
              <a:rPr lang="en-US" sz="1800" dirty="0" smtClean="0">
                <a:solidFill>
                  <a:srgbClr val="0070C0"/>
                </a:solidFill>
                <a:latin typeface="Times New Roman" pitchFamily="18" charset="0"/>
                <a:cs typeface="Times New Roman" pitchFamily="18" charset="0"/>
              </a:rPr>
              <a:t>Name : S </a:t>
            </a:r>
            <a:r>
              <a:rPr lang="en-US" sz="1800" dirty="0" err="1" smtClean="0">
                <a:solidFill>
                  <a:srgbClr val="0070C0"/>
                </a:solidFill>
                <a:latin typeface="Times New Roman" pitchFamily="18" charset="0"/>
                <a:cs typeface="Times New Roman" pitchFamily="18" charset="0"/>
              </a:rPr>
              <a:t>Lohitha</a:t>
            </a:r>
            <a:r>
              <a:rPr lang="en-US" sz="1800" dirty="0">
                <a:solidFill>
                  <a:srgbClr val="0070C0"/>
                </a:solidFill>
                <a:latin typeface="Times New Roman" pitchFamily="18" charset="0"/>
                <a:cs typeface="Times New Roman" pitchFamily="18" charset="0"/>
              </a:rPr>
              <a:t> </a:t>
            </a:r>
            <a:r>
              <a:rPr lang="en-US" sz="1800" dirty="0" smtClean="0">
                <a:solidFill>
                  <a:srgbClr val="0070C0"/>
                </a:solidFill>
                <a:latin typeface="Times New Roman" pitchFamily="18" charset="0"/>
                <a:cs typeface="Times New Roman" pitchFamily="18" charset="0"/>
              </a:rPr>
              <a:t>                        Roll No : 2520030109</a:t>
            </a:r>
            <a:endParaRPr lang="en-US" sz="1800" dirty="0">
              <a:solidFill>
                <a:srgbClr val="0070C0"/>
              </a:solidFill>
              <a:latin typeface="Times New Roman" pitchFamily="18" charset="0"/>
              <a:cs typeface="Times New Roman" pitchFamily="18" charset="0"/>
            </a:endParaRPr>
          </a:p>
          <a:p>
            <a:r>
              <a:rPr lang="en-US" sz="1800" kern="0" dirty="0" smtClean="0">
                <a:solidFill>
                  <a:srgbClr val="0070C0"/>
                </a:solidFill>
                <a:effectLst/>
                <a:latin typeface="Times New Roman" pitchFamily="18" charset="0"/>
                <a:ea typeface="Times New Roman" panose="02020603050405020304" pitchFamily="18" charset="0"/>
                <a:cs typeface="Times New Roman" pitchFamily="18" charset="0"/>
              </a:rPr>
              <a:t>Name : D </a:t>
            </a:r>
            <a:r>
              <a:rPr lang="en-US" sz="1800" kern="0" dirty="0" err="1" smtClean="0">
                <a:solidFill>
                  <a:srgbClr val="0070C0"/>
                </a:solidFill>
                <a:effectLst/>
                <a:latin typeface="Times New Roman" pitchFamily="18" charset="0"/>
                <a:ea typeface="Times New Roman" panose="02020603050405020304" pitchFamily="18" charset="0"/>
                <a:cs typeface="Times New Roman" pitchFamily="18" charset="0"/>
              </a:rPr>
              <a:t>Teja</a:t>
            </a:r>
            <a:r>
              <a:rPr lang="en-US" sz="1800" kern="0" dirty="0" smtClean="0">
                <a:solidFill>
                  <a:srgbClr val="0070C0"/>
                </a:solidFill>
                <a:effectLst/>
                <a:latin typeface="Times New Roman" pitchFamily="18" charset="0"/>
                <a:ea typeface="Times New Roman" panose="02020603050405020304" pitchFamily="18" charset="0"/>
                <a:cs typeface="Times New Roman" pitchFamily="18" charset="0"/>
              </a:rPr>
              <a:t> </a:t>
            </a:r>
            <a:r>
              <a:rPr lang="en-US" sz="1800" kern="0" dirty="0" err="1" smtClean="0">
                <a:solidFill>
                  <a:srgbClr val="0070C0"/>
                </a:solidFill>
                <a:effectLst/>
                <a:latin typeface="Times New Roman" pitchFamily="18" charset="0"/>
                <a:ea typeface="Times New Roman" panose="02020603050405020304" pitchFamily="18" charset="0"/>
                <a:cs typeface="Times New Roman" pitchFamily="18" charset="0"/>
              </a:rPr>
              <a:t>Sadwika</a:t>
            </a:r>
            <a:r>
              <a:rPr lang="en-US" sz="1800" kern="0" dirty="0" smtClean="0">
                <a:solidFill>
                  <a:srgbClr val="0070C0"/>
                </a:solidFill>
                <a:effectLst/>
                <a:latin typeface="Times New Roman" pitchFamily="18" charset="0"/>
                <a:ea typeface="Times New Roman" panose="02020603050405020304" pitchFamily="18" charset="0"/>
                <a:cs typeface="Times New Roman" pitchFamily="18" charset="0"/>
              </a:rPr>
              <a:t>               Roll No : 2520030536</a:t>
            </a:r>
          </a:p>
          <a:p>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Times New Roman" pitchFamily="18" charset="0"/>
              </a:rPr>
              <a:t>Under the Esteemed Guidance </a:t>
            </a:r>
            <a:r>
              <a:rPr lang="en-US" sz="1800" kern="0" dirty="0" smtClean="0">
                <a:solidFill>
                  <a:srgbClr val="000000"/>
                </a:solidFill>
                <a:effectLst/>
                <a:latin typeface="Times New Roman" panose="02020603050405020304" pitchFamily="18" charset="0"/>
                <a:ea typeface="Times New Roman" panose="02020603050405020304" pitchFamily="18" charset="0"/>
                <a:cs typeface="Times New Roman" pitchFamily="18" charset="0"/>
              </a:rPr>
              <a:t>of</a:t>
            </a:r>
          </a:p>
          <a:p>
            <a:pPr marL="171450" algn="ctr">
              <a:lnSpc>
                <a:spcPct val="107000"/>
              </a:lnSpc>
              <a:spcAft>
                <a:spcPts val="800"/>
              </a:spcAft>
            </a:pPr>
            <a:r>
              <a:rPr lang="en-US" sz="1800" kern="0" dirty="0" smtClean="0">
                <a:solidFill>
                  <a:srgbClr val="000000"/>
                </a:solidFill>
                <a:latin typeface="Times New Roman" panose="02020603050405020304" pitchFamily="18" charset="0"/>
                <a:ea typeface="Calibri" panose="020F0502020204030204" pitchFamily="34" charset="0"/>
                <a:cs typeface="Times New Roman" pitchFamily="18" charset="0"/>
              </a:rPr>
              <a:t> </a:t>
            </a:r>
            <a:r>
              <a:rPr lang="en-US" sz="1800" kern="0" dirty="0" err="1" smtClean="0">
                <a:solidFill>
                  <a:srgbClr val="000000"/>
                </a:solidFill>
                <a:latin typeface="Times New Roman" panose="02020603050405020304" pitchFamily="18" charset="0"/>
                <a:ea typeface="Calibri" panose="020F0502020204030204" pitchFamily="34" charset="0"/>
                <a:cs typeface="Times New Roman" pitchFamily="18" charset="0"/>
              </a:rPr>
              <a:t>Mrs.D</a:t>
            </a:r>
            <a:r>
              <a:rPr lang="en-US" sz="1800" kern="0" dirty="0" smtClean="0">
                <a:solidFill>
                  <a:srgbClr val="000000"/>
                </a:solidFill>
                <a:latin typeface="Times New Roman" panose="02020603050405020304" pitchFamily="18" charset="0"/>
                <a:ea typeface="Calibri" panose="020F0502020204030204" pitchFamily="34" charset="0"/>
                <a:cs typeface="Times New Roman" pitchFamily="18" charset="0"/>
              </a:rPr>
              <a:t> </a:t>
            </a:r>
            <a:r>
              <a:rPr lang="en-US" sz="1800" kern="0" dirty="0" err="1" smtClean="0">
                <a:solidFill>
                  <a:srgbClr val="000000"/>
                </a:solidFill>
                <a:latin typeface="Times New Roman" panose="02020603050405020304" pitchFamily="18" charset="0"/>
                <a:ea typeface="Calibri" panose="020F0502020204030204" pitchFamily="34" charset="0"/>
                <a:cs typeface="Times New Roman" pitchFamily="18" charset="0"/>
              </a:rPr>
              <a:t>Swathi</a:t>
            </a:r>
            <a:r>
              <a:rPr lang="en-IN" sz="1800" kern="100" dirty="0">
                <a:latin typeface="Times New Roman" pitchFamily="18" charset="0"/>
                <a:ea typeface="Calibri" panose="020F0502020204030204" pitchFamily="34" charset="0"/>
                <a:cs typeface="Times New Roman" pitchFamily="18" charset="0"/>
              </a:rPr>
              <a:t> </a:t>
            </a:r>
            <a:endParaRPr lang="en-IN" sz="1800" kern="100" dirty="0" smtClean="0">
              <a:latin typeface="Times New Roman" pitchFamily="18" charset="0"/>
              <a:ea typeface="Calibri" panose="020F0502020204030204" pitchFamily="34" charset="0"/>
              <a:cs typeface="Times New Roman" pitchFamily="18" charset="0"/>
            </a:endParaRPr>
          </a:p>
          <a:p>
            <a:pPr marL="171450" algn="ctr">
              <a:lnSpc>
                <a:spcPct val="107000"/>
              </a:lnSpc>
              <a:spcAft>
                <a:spcPts val="800"/>
              </a:spcAft>
            </a:pPr>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1C70C049-38C4-198F-3181-AACE07DE24AE}"/>
              </a:ext>
            </a:extLst>
          </p:cNvPr>
          <p:cNvSpPr txBox="1"/>
          <p:nvPr/>
        </p:nvSpPr>
        <p:spPr>
          <a:xfrm>
            <a:off x="3736109" y="806448"/>
            <a:ext cx="6790642" cy="5804794"/>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Times New Roman" pitchFamily="18" charset="0"/>
                <a:cs typeface="Times New Roman" pitchFamily="18"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Times New Roman" pitchFamily="18" charset="0"/>
                <a:cs typeface="Times New Roman" pitchFamily="18" charset="0"/>
              </a:rPr>
              <a:t>Introduction</a:t>
            </a:r>
            <a:endParaRPr lang="en-IN" sz="3200" b="0" i="0" u="none" strike="noStrike" dirty="0">
              <a:effectLst/>
              <a:latin typeface="Times New Roman" pitchFamily="18" charset="0"/>
              <a:cs typeface="Times New Roman" pitchFamily="18"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Times New Roman" pitchFamily="18" charset="0"/>
                <a:ea typeface="Times New Roman" panose="02020603050405020304" pitchFamily="18" charset="0"/>
                <a:cs typeface="Times New Roman" pitchFamily="18" charset="0"/>
              </a:rPr>
              <a:t>Literature survey</a:t>
            </a:r>
            <a:endParaRPr lang="en-IN" sz="3200" b="0" i="0" u="none" strike="noStrike" dirty="0">
              <a:effectLst/>
              <a:latin typeface="Times New Roman" pitchFamily="18" charset="0"/>
              <a:cs typeface="Times New Roman"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Times New Roman" pitchFamily="18" charset="0"/>
                <a:ea typeface="Times New Roman" panose="02020603050405020304" pitchFamily="18" charset="0"/>
                <a:cs typeface="Times New Roman" pitchFamily="18" charset="0"/>
              </a:rPr>
              <a:t>Problem Statement and Objectives</a:t>
            </a:r>
            <a:endParaRPr lang="en-IN" sz="3200" b="0" i="0" u="none" strike="noStrike" dirty="0">
              <a:effectLst/>
              <a:latin typeface="Times New Roman" pitchFamily="18" charset="0"/>
              <a:cs typeface="Times New Roman"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Times New Roman" pitchFamily="18" charset="0"/>
                <a:ea typeface="Times New Roman" panose="02020603050405020304" pitchFamily="18" charset="0"/>
                <a:cs typeface="Times New Roman" pitchFamily="18" charset="0"/>
              </a:rPr>
              <a:t>Hardware and Software requirements</a:t>
            </a:r>
            <a:endParaRPr lang="en-IN" sz="3200" b="0" i="0" u="none" strike="noStrike" dirty="0">
              <a:effectLst/>
              <a:latin typeface="Times New Roman" pitchFamily="18" charset="0"/>
              <a:cs typeface="Times New Roman"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Times New Roman" pitchFamily="18" charset="0"/>
                <a:ea typeface="Times New Roman" panose="02020603050405020304" pitchFamily="18" charset="0"/>
                <a:cs typeface="Times New Roman" pitchFamily="18" charset="0"/>
              </a:rPr>
              <a:t>Results</a:t>
            </a:r>
            <a:endParaRPr lang="en-IN" sz="3200" b="0" i="0" u="none" strike="noStrike" dirty="0">
              <a:effectLst/>
              <a:latin typeface="Times New Roman" pitchFamily="18" charset="0"/>
              <a:cs typeface="Times New Roman"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Times New Roman" pitchFamily="18" charset="0"/>
                <a:ea typeface="Times New Roman" panose="02020603050405020304" pitchFamily="18" charset="0"/>
                <a:cs typeface="Times New Roman" pitchFamily="18"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Times New Roman" pitchFamily="18" charset="0"/>
                <a:ea typeface="Times New Roman" panose="02020603050405020304" pitchFamily="18" charset="0"/>
                <a:cs typeface="Times New Roman" pitchFamily="18" charset="0"/>
              </a:rPr>
              <a:t>Future Scope </a:t>
            </a:r>
            <a:endParaRPr lang="en-IN" sz="3200" b="0" i="0" u="none" strike="noStrike" dirty="0">
              <a:effectLst/>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8" name="Rectangle: Rounded Corners 7">
            <a:extLst>
              <a:ext uri="{FF2B5EF4-FFF2-40B4-BE49-F238E27FC236}">
                <a16:creationId xmlns=""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9" name="TextBox 8">
            <a:extLst>
              <a:ext uri="{FF2B5EF4-FFF2-40B4-BE49-F238E27FC236}">
                <a16:creationId xmlns=""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728641"/>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710535"/>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p:cNvSpPr txBox="1"/>
          <p:nvPr/>
        </p:nvSpPr>
        <p:spPr>
          <a:xfrm>
            <a:off x="2399153" y="1448543"/>
            <a:ext cx="8347295" cy="5170646"/>
          </a:xfrm>
          <a:prstGeom prst="rect">
            <a:avLst/>
          </a:prstGeom>
          <a:noFill/>
        </p:spPr>
        <p:txBody>
          <a:bodyPr wrap="square" rtlCol="0">
            <a:spAutoFit/>
          </a:bodyPr>
          <a:lstStyle/>
          <a:p>
            <a:pPr algn="just">
              <a:lnSpc>
                <a:spcPct val="150000"/>
              </a:lnSpc>
            </a:pPr>
            <a:r>
              <a:rPr lang="en-US" sz="1600" dirty="0">
                <a:latin typeface="Times New Roman" pitchFamily="18" charset="0"/>
                <a:cs typeface="Times New Roman" pitchFamily="18" charset="0"/>
              </a:rPr>
              <a:t>The </a:t>
            </a:r>
            <a:r>
              <a:rPr lang="en-US" sz="1600" b="1" dirty="0">
                <a:latin typeface="Times New Roman" pitchFamily="18" charset="0"/>
                <a:cs typeface="Times New Roman" pitchFamily="18" charset="0"/>
              </a:rPr>
              <a:t>Smart Healthcare Resource &amp; Emergency Management System</a:t>
            </a:r>
            <a:r>
              <a:rPr lang="en-US" sz="1600" dirty="0">
                <a:latin typeface="Times New Roman" pitchFamily="18" charset="0"/>
                <a:cs typeface="Times New Roman" pitchFamily="18" charset="0"/>
              </a:rPr>
              <a:t> is designed to improve the efficiency of healthcare operations by applying advanced algorithms to searching, resource allocation, and emergency management. Hospitals handle large amounts of patient information and limited resources, making efficient decision-making and optimization important</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a:p>
            <a:pPr algn="just">
              <a:lnSpc>
                <a:spcPct val="150000"/>
              </a:lnSpc>
            </a:pPr>
            <a:r>
              <a:rPr lang="en-US" sz="1600" dirty="0">
                <a:latin typeface="Times New Roman" pitchFamily="18" charset="0"/>
                <a:cs typeface="Times New Roman" pitchFamily="18" charset="0"/>
              </a:rPr>
              <a:t>The system uses advanced </a:t>
            </a:r>
            <a:r>
              <a:rPr lang="en-US" sz="1600" b="1" dirty="0">
                <a:latin typeface="Times New Roman" pitchFamily="18" charset="0"/>
                <a:cs typeface="Times New Roman" pitchFamily="18" charset="0"/>
              </a:rPr>
              <a:t>string matching algorithms</a:t>
            </a:r>
            <a:r>
              <a:rPr lang="en-US" sz="1600" dirty="0">
                <a:latin typeface="Times New Roman" pitchFamily="18" charset="0"/>
                <a:cs typeface="Times New Roman" pitchFamily="18" charset="0"/>
              </a:rPr>
              <a:t> such as KMP, Z-function, and Rabin-Karp to efficiently search healthcare-related information. </a:t>
            </a:r>
            <a:r>
              <a:rPr lang="en-US" sz="1600" b="1" dirty="0">
                <a:latin typeface="Times New Roman" pitchFamily="18" charset="0"/>
                <a:cs typeface="Times New Roman" pitchFamily="18" charset="0"/>
              </a:rPr>
              <a:t>Dynamic Programming</a:t>
            </a:r>
            <a:r>
              <a:rPr lang="en-US" sz="1600" dirty="0">
                <a:latin typeface="Times New Roman" pitchFamily="18" charset="0"/>
                <a:cs typeface="Times New Roman" pitchFamily="18" charset="0"/>
              </a:rPr>
              <a:t>, including </a:t>
            </a:r>
            <a:r>
              <a:rPr lang="en-US" sz="1600" b="1" dirty="0">
                <a:latin typeface="Times New Roman" pitchFamily="18" charset="0"/>
                <a:cs typeface="Times New Roman" pitchFamily="18" charset="0"/>
              </a:rPr>
              <a:t>Interval Dynamic Programming</a:t>
            </a:r>
            <a:r>
              <a:rPr lang="en-US" sz="1600" dirty="0">
                <a:latin typeface="Times New Roman" pitchFamily="18" charset="0"/>
                <a:cs typeface="Times New Roman" pitchFamily="18" charset="0"/>
              </a:rPr>
              <a:t>, is used to optimize search-related problems. The system constructs an </a:t>
            </a:r>
            <a:r>
              <a:rPr lang="en-US" sz="1600" b="1" dirty="0">
                <a:latin typeface="Times New Roman" pitchFamily="18" charset="0"/>
                <a:cs typeface="Times New Roman" pitchFamily="18" charset="0"/>
              </a:rPr>
              <a:t>Optimal Binary Search Tree using search frequencies of keys</a:t>
            </a:r>
            <a:r>
              <a:rPr lang="en-US" sz="1600" dirty="0">
                <a:latin typeface="Times New Roman" pitchFamily="18" charset="0"/>
                <a:cs typeface="Times New Roman" pitchFamily="18" charset="0"/>
              </a:rPr>
              <a:t>, minimizing the average search cost and calculating the expected search cost. </a:t>
            </a:r>
            <a:r>
              <a:rPr lang="en-US" sz="1600" b="1" dirty="0">
                <a:latin typeface="Times New Roman" pitchFamily="18" charset="0"/>
                <a:cs typeface="Times New Roman" pitchFamily="18" charset="0"/>
              </a:rPr>
              <a:t>Network-flow algorithms</a:t>
            </a:r>
            <a:r>
              <a:rPr lang="en-US" sz="1600" dirty="0">
                <a:latin typeface="Times New Roman" pitchFamily="18" charset="0"/>
                <a:cs typeface="Times New Roman" pitchFamily="18" charset="0"/>
              </a:rPr>
              <a:t>, such as Ford-Fulkerson and Edmonds-Karp, are used to model and optimize the allocation of limited healthcare resources. </a:t>
            </a:r>
            <a:r>
              <a:rPr lang="en-US" sz="1600" b="1" dirty="0">
                <a:latin typeface="Times New Roman" pitchFamily="18" charset="0"/>
                <a:cs typeface="Times New Roman" pitchFamily="18" charset="0"/>
              </a:rPr>
              <a:t>Approximation algorithms</a:t>
            </a:r>
            <a:r>
              <a:rPr lang="en-US" sz="1600" dirty="0">
                <a:latin typeface="Times New Roman" pitchFamily="18" charset="0"/>
                <a:cs typeface="Times New Roman" pitchFamily="18" charset="0"/>
              </a:rPr>
              <a:t> are applied to complex optimization and scheduling problems, while </a:t>
            </a:r>
            <a:r>
              <a:rPr lang="en-US" sz="1600" b="1" dirty="0">
                <a:latin typeface="Times New Roman" pitchFamily="18" charset="0"/>
                <a:cs typeface="Times New Roman" pitchFamily="18" charset="0"/>
              </a:rPr>
              <a:t>randomized and parallel algorithms</a:t>
            </a:r>
            <a:r>
              <a:rPr lang="en-US" sz="1600" dirty="0">
                <a:latin typeface="Times New Roman" pitchFamily="18" charset="0"/>
                <a:cs typeface="Times New Roman" pitchFamily="18" charset="0"/>
              </a:rPr>
              <a:t> are used to improve the processing of large healthcare workloads.</a:t>
            </a:r>
          </a:p>
          <a:p>
            <a:endParaRPr lang="en-US"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1000231"/>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972523"/>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p:cNvSpPr txBox="1"/>
          <p:nvPr/>
        </p:nvSpPr>
        <p:spPr>
          <a:xfrm>
            <a:off x="2462532" y="1674871"/>
            <a:ext cx="8609846" cy="4985980"/>
          </a:xfrm>
          <a:prstGeom prst="rect">
            <a:avLst/>
          </a:prstGeom>
          <a:noFill/>
        </p:spPr>
        <p:txBody>
          <a:bodyPr wrap="square" rtlCol="0">
            <a:spAutoFit/>
          </a:bodyPr>
          <a:lstStyle/>
          <a:p>
            <a:pPr algn="just">
              <a:lnSpc>
                <a:spcPct val="150000"/>
              </a:lnSpc>
            </a:pPr>
            <a:r>
              <a:rPr lang="en-US" dirty="0">
                <a:latin typeface="Times New Roman" pitchFamily="18" charset="0"/>
                <a:cs typeface="Times New Roman" pitchFamily="18" charset="0"/>
              </a:rPr>
              <a:t>Healthcare systems continuously handle patient information, emergency requests, limited resources, and scheduling requirements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marL="342900" indent="-342900" algn="just">
              <a:lnSpc>
                <a:spcPct val="150000"/>
              </a:lnSpc>
              <a:buFont typeface="Arial" pitchFamily="34" charset="0"/>
              <a:buChar char="•"/>
            </a:pPr>
            <a:r>
              <a:rPr lang="en-US" dirty="0">
                <a:latin typeface="Times New Roman" pitchFamily="18" charset="0"/>
                <a:cs typeface="Times New Roman" pitchFamily="18" charset="0"/>
              </a:rPr>
              <a:t>Searching large amounts of healthcare </a:t>
            </a:r>
            <a:r>
              <a:rPr lang="en-US" dirty="0" smtClean="0">
                <a:latin typeface="Times New Roman" pitchFamily="18" charset="0"/>
                <a:cs typeface="Times New Roman" pitchFamily="18" charset="0"/>
              </a:rPr>
              <a:t>information </a:t>
            </a:r>
            <a:r>
              <a:rPr lang="en-US" dirty="0">
                <a:latin typeface="Times New Roman" pitchFamily="18" charset="0"/>
                <a:cs typeface="Times New Roman" pitchFamily="18" charset="0"/>
              </a:rPr>
              <a:t>efficiently is important. </a:t>
            </a:r>
          </a:p>
          <a:p>
            <a:pPr marL="342900" indent="-342900" algn="just">
              <a:lnSpc>
                <a:spcPct val="150000"/>
              </a:lnSpc>
              <a:buFont typeface="Arial" pitchFamily="34" charset="0"/>
              <a:buChar char="•"/>
            </a:pPr>
            <a:r>
              <a:rPr lang="en-US" dirty="0">
                <a:latin typeface="Times New Roman" pitchFamily="18" charset="0"/>
                <a:cs typeface="Times New Roman" pitchFamily="18" charset="0"/>
              </a:rPr>
              <a:t>Frequently accessed information should be organized to reduce search time. </a:t>
            </a:r>
          </a:p>
          <a:p>
            <a:pPr marL="342900" indent="-342900" algn="just">
              <a:lnSpc>
                <a:spcPct val="150000"/>
              </a:lnSpc>
              <a:buFont typeface="Arial" pitchFamily="34" charset="0"/>
              <a:buChar char="•"/>
            </a:pPr>
            <a:r>
              <a:rPr lang="en-US" dirty="0">
                <a:latin typeface="Times New Roman" pitchFamily="18" charset="0"/>
                <a:cs typeface="Times New Roman" pitchFamily="18" charset="0"/>
              </a:rPr>
              <a:t>The </a:t>
            </a:r>
            <a:r>
              <a:rPr lang="en-US" b="1" dirty="0">
                <a:latin typeface="Times New Roman" pitchFamily="18" charset="0"/>
                <a:cs typeface="Times New Roman" pitchFamily="18" charset="0"/>
              </a:rPr>
              <a:t>Optimal Binary Search Tree</a:t>
            </a:r>
            <a:r>
              <a:rPr lang="en-US" dirty="0">
                <a:latin typeface="Times New Roman" pitchFamily="18" charset="0"/>
                <a:cs typeface="Times New Roman" pitchFamily="18" charset="0"/>
              </a:rPr>
              <a:t> uses search frequencies to create an efficient search structure. </a:t>
            </a:r>
          </a:p>
          <a:p>
            <a:pPr marL="342900" indent="-342900" algn="just">
              <a:lnSpc>
                <a:spcPct val="150000"/>
              </a:lnSpc>
              <a:buFont typeface="Arial" pitchFamily="34" charset="0"/>
              <a:buChar char="•"/>
            </a:pPr>
            <a:r>
              <a:rPr lang="en-US" b="1" dirty="0">
                <a:latin typeface="Times New Roman" pitchFamily="18" charset="0"/>
                <a:cs typeface="Times New Roman" pitchFamily="18" charset="0"/>
              </a:rPr>
              <a:t>Interval Dynamic Programming</a:t>
            </a:r>
            <a:r>
              <a:rPr lang="en-US" dirty="0">
                <a:latin typeface="Times New Roman" pitchFamily="18" charset="0"/>
                <a:cs typeface="Times New Roman" pitchFamily="18" charset="0"/>
              </a:rPr>
              <a:t> finds the arrangement with minimum expected search cost. </a:t>
            </a:r>
          </a:p>
          <a:p>
            <a:pPr marL="342900" indent="-342900" algn="just">
              <a:lnSpc>
                <a:spcPct val="150000"/>
              </a:lnSpc>
              <a:buFont typeface="Arial" pitchFamily="34" charset="0"/>
              <a:buChar char="•"/>
            </a:pPr>
            <a:r>
              <a:rPr lang="en-US" dirty="0">
                <a:latin typeface="Times New Roman" pitchFamily="18" charset="0"/>
                <a:cs typeface="Times New Roman" pitchFamily="18" charset="0"/>
              </a:rPr>
              <a:t>Emergency resources such as beds, doctors, and ambulances are limited. </a:t>
            </a:r>
          </a:p>
          <a:p>
            <a:pPr marL="342900" indent="-342900" algn="just">
              <a:lnSpc>
                <a:spcPct val="150000"/>
              </a:lnSpc>
              <a:buFont typeface="Arial" pitchFamily="34" charset="0"/>
              <a:buChar char="•"/>
            </a:pPr>
            <a:r>
              <a:rPr lang="en-US" dirty="0">
                <a:latin typeface="Times New Roman" pitchFamily="18" charset="0"/>
                <a:cs typeface="Times New Roman" pitchFamily="18" charset="0"/>
              </a:rPr>
              <a:t>Network-flow techniques can help distribute these resources efficiently. </a:t>
            </a:r>
          </a:p>
          <a:p>
            <a:pPr marL="342900" indent="-342900" algn="just">
              <a:lnSpc>
                <a:spcPct val="150000"/>
              </a:lnSpc>
              <a:buFont typeface="Arial" pitchFamily="34" charset="0"/>
              <a:buChar char="•"/>
            </a:pPr>
            <a:r>
              <a:rPr lang="en-US" dirty="0">
                <a:latin typeface="Times New Roman" pitchFamily="18" charset="0"/>
                <a:cs typeface="Times New Roman" pitchFamily="18" charset="0"/>
              </a:rPr>
              <a:t>Advanced algorithms can therefore improve overall healthcare management</a:t>
            </a:r>
            <a:r>
              <a:rPr lang="en-US" sz="2000" dirty="0">
                <a:latin typeface="Times New Roman" pitchFamily="18" charset="0"/>
                <a:cs typeface="Times New Roman" pitchFamily="18" charset="0"/>
              </a:rPr>
              <a:t>.</a:t>
            </a:r>
          </a:p>
          <a:p>
            <a:pPr marL="285750" indent="-285750">
              <a:buFont typeface="Arial" pitchFamily="34" charset="0"/>
              <a:buChar char="•"/>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873489"/>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82767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p:cNvSpPr txBox="1"/>
          <p:nvPr/>
        </p:nvSpPr>
        <p:spPr>
          <a:xfrm>
            <a:off x="2752234" y="1557179"/>
            <a:ext cx="8084744" cy="4939814"/>
          </a:xfrm>
          <a:prstGeom prst="rect">
            <a:avLst/>
          </a:prstGeom>
          <a:noFill/>
        </p:spPr>
        <p:txBody>
          <a:bodyPr wrap="square" rtlCol="0">
            <a:spAutoFit/>
          </a:bodyPr>
          <a:lstStyle/>
          <a:p>
            <a:pPr algn="just">
              <a:lnSpc>
                <a:spcPct val="150000"/>
              </a:lnSpc>
            </a:pPr>
            <a:r>
              <a:rPr lang="en-US" dirty="0">
                <a:latin typeface="Times New Roman" pitchFamily="18" charset="0"/>
                <a:cs typeface="Times New Roman" pitchFamily="18" charset="0"/>
              </a:rPr>
              <a:t>Various algorithmic techniques are available for efficient searching and optimization</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KMP</a:t>
            </a:r>
            <a:r>
              <a:rPr lang="en-US" dirty="0">
                <a:latin typeface="Times New Roman" pitchFamily="18" charset="0"/>
                <a:cs typeface="Times New Roman" pitchFamily="18" charset="0"/>
              </a:rPr>
              <a:t> provides efficient pattern matching without unnecessary comparisons.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Z-function</a:t>
            </a:r>
            <a:r>
              <a:rPr lang="en-US" dirty="0">
                <a:latin typeface="Times New Roman" pitchFamily="18" charset="0"/>
                <a:cs typeface="Times New Roman" pitchFamily="18" charset="0"/>
              </a:rPr>
              <a:t> can identify pattern occurrences efficiently.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Rabin-Karp</a:t>
            </a:r>
            <a:r>
              <a:rPr lang="en-US" dirty="0">
                <a:latin typeface="Times New Roman" pitchFamily="18" charset="0"/>
                <a:cs typeface="Times New Roman" pitchFamily="18" charset="0"/>
              </a:rPr>
              <a:t> uses rolling hashing for pattern searching.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Suffix Arrays and LCP</a:t>
            </a:r>
            <a:r>
              <a:rPr lang="en-US" dirty="0">
                <a:latin typeface="Times New Roman" pitchFamily="18" charset="0"/>
                <a:cs typeface="Times New Roman" pitchFamily="18" charset="0"/>
              </a:rPr>
              <a:t> support efficient processing of large string datasets.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Optimal BST</a:t>
            </a:r>
            <a:r>
              <a:rPr lang="en-US" dirty="0">
                <a:latin typeface="Times New Roman" pitchFamily="18" charset="0"/>
                <a:cs typeface="Times New Roman" pitchFamily="18" charset="0"/>
              </a:rPr>
              <a:t> minimizes the expected search cost using access frequencies.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Dynamic Programming</a:t>
            </a:r>
            <a:r>
              <a:rPr lang="en-US" dirty="0">
                <a:latin typeface="Times New Roman" pitchFamily="18" charset="0"/>
                <a:cs typeface="Times New Roman" pitchFamily="18" charset="0"/>
              </a:rPr>
              <a:t> solves optimization problems by storing previously computed results.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Network Flow</a:t>
            </a:r>
            <a:r>
              <a:rPr lang="en-US" dirty="0">
                <a:latin typeface="Times New Roman" pitchFamily="18" charset="0"/>
                <a:cs typeface="Times New Roman" pitchFamily="18" charset="0"/>
              </a:rPr>
              <a:t> algorithms can model allocation problems with limited capacities.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Approximation, randomized, and parallel algorithms provide solutions for complex and large-scale problems.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384627"/>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428489"/>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p:cNvSpPr txBox="1"/>
          <p:nvPr/>
        </p:nvSpPr>
        <p:spPr>
          <a:xfrm>
            <a:off x="2245241" y="1104539"/>
            <a:ext cx="8510258" cy="5447645"/>
          </a:xfrm>
          <a:prstGeom prst="rect">
            <a:avLst/>
          </a:prstGeom>
          <a:noFill/>
        </p:spPr>
        <p:txBody>
          <a:bodyPr wrap="square" rtlCol="0">
            <a:spAutoFit/>
          </a:bodyPr>
          <a:lstStyle/>
          <a:p>
            <a:pPr algn="just">
              <a:lnSpc>
                <a:spcPct val="150000"/>
              </a:lnSpc>
            </a:pPr>
            <a:r>
              <a:rPr lang="en-US" sz="2000" b="1" dirty="0">
                <a:latin typeface="Times New Roman" pitchFamily="18" charset="0"/>
                <a:cs typeface="Times New Roman" pitchFamily="18" charset="0"/>
              </a:rPr>
              <a:t>Problem </a:t>
            </a:r>
            <a:r>
              <a:rPr lang="en-US" sz="2000" b="1" dirty="0" smtClean="0">
                <a:latin typeface="Times New Roman" pitchFamily="18" charset="0"/>
                <a:cs typeface="Times New Roman" pitchFamily="18" charset="0"/>
              </a:rPr>
              <a:t>Statement :</a:t>
            </a:r>
            <a:endParaRPr lang="en-US" sz="2000" b="1" dirty="0">
              <a:latin typeface="Times New Roman" pitchFamily="18" charset="0"/>
              <a:cs typeface="Times New Roman" pitchFamily="18" charset="0"/>
            </a:endParaRPr>
          </a:p>
          <a:p>
            <a:pPr algn="just">
              <a:lnSpc>
                <a:spcPct val="150000"/>
              </a:lnSpc>
            </a:pPr>
            <a:r>
              <a:rPr lang="en-US" dirty="0">
                <a:latin typeface="Times New Roman" pitchFamily="18" charset="0"/>
                <a:cs typeface="Times New Roman" pitchFamily="18" charset="0"/>
              </a:rPr>
              <a:t>Develop a smart healthcare system that applies advanced algorithms to efficiently search information, optimize search structures, allocate resources, and manage emergency-related operations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algn="just">
              <a:lnSpc>
                <a:spcPct val="150000"/>
              </a:lnSpc>
            </a:pPr>
            <a:r>
              <a:rPr lang="en-US" sz="2000" b="1" dirty="0" smtClean="0">
                <a:latin typeface="Times New Roman" pitchFamily="18" charset="0"/>
                <a:cs typeface="Times New Roman" pitchFamily="18" charset="0"/>
              </a:rPr>
              <a:t>Objectives :</a:t>
            </a:r>
            <a:endParaRPr lang="en-US" sz="2000" b="1"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Search healthcare information efficiently using string algorithms.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Construct an </a:t>
            </a:r>
            <a:r>
              <a:rPr lang="en-US" b="1" dirty="0">
                <a:latin typeface="Times New Roman" pitchFamily="18" charset="0"/>
                <a:cs typeface="Times New Roman" pitchFamily="18" charset="0"/>
              </a:rPr>
              <a:t>Optimal Binary Search Tree</a:t>
            </a:r>
            <a:r>
              <a:rPr lang="en-US" dirty="0">
                <a:latin typeface="Times New Roman" pitchFamily="18" charset="0"/>
                <a:cs typeface="Times New Roman" pitchFamily="18" charset="0"/>
              </a:rPr>
              <a:t> using search frequencies.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Minimize average search cost using </a:t>
            </a:r>
            <a:r>
              <a:rPr lang="en-US" b="1" dirty="0">
                <a:latin typeface="Times New Roman" pitchFamily="18" charset="0"/>
                <a:cs typeface="Times New Roman" pitchFamily="18" charset="0"/>
              </a:rPr>
              <a:t>Interval Dynamic Programming</a:t>
            </a:r>
            <a:r>
              <a:rPr lang="en-US" dirty="0">
                <a:latin typeface="Times New Roman" pitchFamily="18" charset="0"/>
                <a:cs typeface="Times New Roman" pitchFamily="18" charset="0"/>
              </a:rPr>
              <a:t>.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Calculate and display the </a:t>
            </a:r>
            <a:r>
              <a:rPr lang="en-US" b="1" dirty="0">
                <a:latin typeface="Times New Roman" pitchFamily="18" charset="0"/>
                <a:cs typeface="Times New Roman" pitchFamily="18" charset="0"/>
              </a:rPr>
              <a:t>expected search cost</a:t>
            </a:r>
            <a:r>
              <a:rPr lang="en-US" dirty="0">
                <a:latin typeface="Times New Roman" pitchFamily="18" charset="0"/>
                <a:cs typeface="Times New Roman" pitchFamily="18" charset="0"/>
              </a:rPr>
              <a:t>.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Allocate limited healthcare resources using </a:t>
            </a:r>
            <a:r>
              <a:rPr lang="en-US" b="1" dirty="0">
                <a:latin typeface="Times New Roman" pitchFamily="18" charset="0"/>
                <a:cs typeface="Times New Roman" pitchFamily="18" charset="0"/>
              </a:rPr>
              <a:t>Max-Flow / Min-Cut</a:t>
            </a:r>
            <a:r>
              <a:rPr lang="en-US" dirty="0">
                <a:latin typeface="Times New Roman" pitchFamily="18" charset="0"/>
                <a:cs typeface="Times New Roman" pitchFamily="18" charset="0"/>
              </a:rPr>
              <a:t>.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Apply approximation techniques to difficult optimization problems.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Improve large-scale processing using randomized and parallel algorithms.</a:t>
            </a:r>
          </a:p>
          <a:p>
            <a:endParaRPr lang="en-US"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917169" y="828224"/>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p:cNvSpPr txBox="1"/>
          <p:nvPr/>
        </p:nvSpPr>
        <p:spPr>
          <a:xfrm>
            <a:off x="2841132" y="800516"/>
            <a:ext cx="6871855"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Flow Chart</a:t>
            </a:r>
          </a:p>
        </p:txBody>
      </p:sp>
      <p:sp>
        <p:nvSpPr>
          <p:cNvPr id="4" name="Rounded Rectangle 3"/>
          <p:cNvSpPr/>
          <p:nvPr/>
        </p:nvSpPr>
        <p:spPr>
          <a:xfrm>
            <a:off x="683980" y="3395471"/>
            <a:ext cx="1417320" cy="914400"/>
          </a:xfrm>
          <a:prstGeom prst="roundRect">
            <a:avLst/>
          </a:prstGeom>
          <a:solidFill>
            <a:srgbClr val="FFFFFF"/>
          </a:solidFill>
          <a:ln w="25400">
            <a:solidFill>
              <a:srgbClr val="CD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latin typeface="Times New Roman" pitchFamily="18" charset="0"/>
                <a:cs typeface="Times New Roman" pitchFamily="18" charset="0"/>
              </a:rPr>
              <a:t>Patient /</a:t>
            </a:r>
            <a:r>
              <a:rPr>
                <a:latin typeface="Times New Roman" pitchFamily="18" charset="0"/>
                <a:cs typeface="Times New Roman" pitchFamily="18" charset="0"/>
              </a:rPr>
              <a:t/>
            </a:r>
            <a:br>
              <a:rPr>
                <a:latin typeface="Times New Roman" pitchFamily="18" charset="0"/>
                <a:cs typeface="Times New Roman" pitchFamily="18" charset="0"/>
              </a:rPr>
            </a:br>
            <a:r>
              <a:rPr sz="1300" b="1">
                <a:solidFill>
                  <a:srgbClr val="191919"/>
                </a:solidFill>
                <a:latin typeface="Times New Roman" pitchFamily="18" charset="0"/>
                <a:cs typeface="Times New Roman" pitchFamily="18" charset="0"/>
              </a:rPr>
              <a:t>Emergency Data</a:t>
            </a:r>
          </a:p>
        </p:txBody>
      </p:sp>
      <p:cxnSp>
        <p:nvCxnSpPr>
          <p:cNvPr id="5" name="Connector 4"/>
          <p:cNvCxnSpPr/>
          <p:nvPr/>
        </p:nvCxnSpPr>
        <p:spPr>
          <a:xfrm>
            <a:off x="2101300" y="3852671"/>
            <a:ext cx="320040" cy="0"/>
          </a:xfrm>
          <a:prstGeom prst="line">
            <a:avLst/>
          </a:prstGeom>
          <a:ln w="25400">
            <a:solidFill>
              <a:srgbClr val="CD0000"/>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421340" y="3395471"/>
            <a:ext cx="1417320" cy="914400"/>
          </a:xfrm>
          <a:prstGeom prst="roundRect">
            <a:avLst/>
          </a:prstGeom>
          <a:solidFill>
            <a:srgbClr val="FFFFFF"/>
          </a:solidFill>
          <a:ln w="25400">
            <a:solidFill>
              <a:srgbClr val="CD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latin typeface="Times New Roman" pitchFamily="18" charset="0"/>
                <a:cs typeface="Times New Roman" pitchFamily="18" charset="0"/>
              </a:rPr>
              <a:t>Identify</a:t>
            </a:r>
            <a:r>
              <a:rPr>
                <a:latin typeface="Times New Roman" pitchFamily="18" charset="0"/>
                <a:cs typeface="Times New Roman" pitchFamily="18" charset="0"/>
              </a:rPr>
              <a:t/>
            </a:r>
            <a:br>
              <a:rPr>
                <a:latin typeface="Times New Roman" pitchFamily="18" charset="0"/>
                <a:cs typeface="Times New Roman" pitchFamily="18" charset="0"/>
              </a:rPr>
            </a:br>
            <a:r>
              <a:rPr sz="1300" b="1">
                <a:solidFill>
                  <a:srgbClr val="191919"/>
                </a:solidFill>
                <a:latin typeface="Times New Roman" pitchFamily="18" charset="0"/>
                <a:cs typeface="Times New Roman" pitchFamily="18" charset="0"/>
              </a:rPr>
              <a:t>Problem</a:t>
            </a:r>
          </a:p>
        </p:txBody>
      </p:sp>
      <p:cxnSp>
        <p:nvCxnSpPr>
          <p:cNvPr id="7" name="Connector 6"/>
          <p:cNvCxnSpPr/>
          <p:nvPr/>
        </p:nvCxnSpPr>
        <p:spPr>
          <a:xfrm>
            <a:off x="3838660" y="3852671"/>
            <a:ext cx="320039" cy="0"/>
          </a:xfrm>
          <a:prstGeom prst="line">
            <a:avLst/>
          </a:prstGeom>
          <a:ln w="25400">
            <a:solidFill>
              <a:srgbClr val="CD000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58699" y="3395471"/>
            <a:ext cx="1417320" cy="914400"/>
          </a:xfrm>
          <a:prstGeom prst="roundRect">
            <a:avLst/>
          </a:prstGeom>
          <a:solidFill>
            <a:srgbClr val="FFFFFF"/>
          </a:solidFill>
          <a:ln w="25400">
            <a:solidFill>
              <a:srgbClr val="CD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latin typeface="Times New Roman" pitchFamily="18" charset="0"/>
                <a:cs typeface="Times New Roman" pitchFamily="18" charset="0"/>
              </a:rPr>
              <a:t>Select</a:t>
            </a:r>
            <a:r>
              <a:rPr>
                <a:latin typeface="Times New Roman" pitchFamily="18" charset="0"/>
                <a:cs typeface="Times New Roman" pitchFamily="18" charset="0"/>
              </a:rPr>
              <a:t/>
            </a:r>
            <a:br>
              <a:rPr>
                <a:latin typeface="Times New Roman" pitchFamily="18" charset="0"/>
                <a:cs typeface="Times New Roman" pitchFamily="18" charset="0"/>
              </a:rPr>
            </a:br>
            <a:r>
              <a:rPr sz="1300" b="1">
                <a:solidFill>
                  <a:srgbClr val="191919"/>
                </a:solidFill>
                <a:latin typeface="Times New Roman" pitchFamily="18" charset="0"/>
                <a:cs typeface="Times New Roman" pitchFamily="18" charset="0"/>
              </a:rPr>
              <a:t>Algorithm</a:t>
            </a:r>
          </a:p>
        </p:txBody>
      </p:sp>
      <p:cxnSp>
        <p:nvCxnSpPr>
          <p:cNvPr id="9" name="Connector 8"/>
          <p:cNvCxnSpPr/>
          <p:nvPr/>
        </p:nvCxnSpPr>
        <p:spPr>
          <a:xfrm>
            <a:off x="5576019" y="3852671"/>
            <a:ext cx="320041" cy="0"/>
          </a:xfrm>
          <a:prstGeom prst="line">
            <a:avLst/>
          </a:prstGeom>
          <a:ln w="25400">
            <a:solidFill>
              <a:srgbClr val="CD000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896060" y="3395471"/>
            <a:ext cx="1417320" cy="914400"/>
          </a:xfrm>
          <a:prstGeom prst="roundRect">
            <a:avLst/>
          </a:prstGeom>
          <a:solidFill>
            <a:srgbClr val="FFFFFF"/>
          </a:solidFill>
          <a:ln w="25400">
            <a:solidFill>
              <a:srgbClr val="CD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latin typeface="Times New Roman" pitchFamily="18" charset="0"/>
                <a:cs typeface="Times New Roman" pitchFamily="18" charset="0"/>
              </a:rPr>
              <a:t>Process &amp;</a:t>
            </a:r>
            <a:r>
              <a:rPr>
                <a:latin typeface="Times New Roman" pitchFamily="18" charset="0"/>
                <a:cs typeface="Times New Roman" pitchFamily="18" charset="0"/>
              </a:rPr>
              <a:t/>
            </a:r>
            <a:br>
              <a:rPr>
                <a:latin typeface="Times New Roman" pitchFamily="18" charset="0"/>
                <a:cs typeface="Times New Roman" pitchFamily="18" charset="0"/>
              </a:rPr>
            </a:br>
            <a:r>
              <a:rPr sz="1300" b="1">
                <a:solidFill>
                  <a:srgbClr val="191919"/>
                </a:solidFill>
                <a:latin typeface="Times New Roman" pitchFamily="18" charset="0"/>
                <a:cs typeface="Times New Roman" pitchFamily="18" charset="0"/>
              </a:rPr>
              <a:t>Optimize</a:t>
            </a:r>
          </a:p>
        </p:txBody>
      </p:sp>
      <p:cxnSp>
        <p:nvCxnSpPr>
          <p:cNvPr id="11" name="Connector 10"/>
          <p:cNvCxnSpPr/>
          <p:nvPr/>
        </p:nvCxnSpPr>
        <p:spPr>
          <a:xfrm>
            <a:off x="7313380" y="3852671"/>
            <a:ext cx="320040" cy="0"/>
          </a:xfrm>
          <a:prstGeom prst="line">
            <a:avLst/>
          </a:prstGeom>
          <a:ln w="25400">
            <a:solidFill>
              <a:srgbClr val="CD000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633420" y="3395471"/>
            <a:ext cx="1417320" cy="914400"/>
          </a:xfrm>
          <a:prstGeom prst="roundRect">
            <a:avLst/>
          </a:prstGeom>
          <a:solidFill>
            <a:srgbClr val="FFFFFF"/>
          </a:solidFill>
          <a:ln w="25400">
            <a:solidFill>
              <a:srgbClr val="CD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latin typeface="Times New Roman" pitchFamily="18" charset="0"/>
                <a:cs typeface="Times New Roman" pitchFamily="18" charset="0"/>
              </a:rPr>
              <a:t>Generate</a:t>
            </a:r>
            <a:r>
              <a:rPr>
                <a:latin typeface="Times New Roman" pitchFamily="18" charset="0"/>
                <a:cs typeface="Times New Roman" pitchFamily="18" charset="0"/>
              </a:rPr>
              <a:t/>
            </a:r>
            <a:br>
              <a:rPr>
                <a:latin typeface="Times New Roman" pitchFamily="18" charset="0"/>
                <a:cs typeface="Times New Roman" pitchFamily="18" charset="0"/>
              </a:rPr>
            </a:br>
            <a:r>
              <a:rPr sz="1300" b="1">
                <a:solidFill>
                  <a:srgbClr val="191919"/>
                </a:solidFill>
                <a:latin typeface="Times New Roman" pitchFamily="18" charset="0"/>
                <a:cs typeface="Times New Roman" pitchFamily="18" charset="0"/>
              </a:rPr>
              <a:t>Result</a:t>
            </a:r>
          </a:p>
        </p:txBody>
      </p:sp>
      <p:cxnSp>
        <p:nvCxnSpPr>
          <p:cNvPr id="13" name="Connector 12"/>
          <p:cNvCxnSpPr/>
          <p:nvPr/>
        </p:nvCxnSpPr>
        <p:spPr>
          <a:xfrm>
            <a:off x="9050740" y="3852671"/>
            <a:ext cx="320040" cy="0"/>
          </a:xfrm>
          <a:prstGeom prst="line">
            <a:avLst/>
          </a:prstGeom>
          <a:ln w="25400">
            <a:solidFill>
              <a:srgbClr val="CD000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370780" y="3395471"/>
            <a:ext cx="1417320" cy="914400"/>
          </a:xfrm>
          <a:prstGeom prst="roundRect">
            <a:avLst/>
          </a:prstGeom>
          <a:solidFill>
            <a:srgbClr val="FFFFFF"/>
          </a:solidFill>
          <a:ln w="25400">
            <a:solidFill>
              <a:srgbClr val="CD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latin typeface="Times New Roman" pitchFamily="18" charset="0"/>
                <a:cs typeface="Times New Roman" pitchFamily="18" charset="0"/>
              </a:rPr>
              <a:t>Display</a:t>
            </a:r>
            <a:r>
              <a:rPr>
                <a:latin typeface="Times New Roman" pitchFamily="18" charset="0"/>
                <a:cs typeface="Times New Roman" pitchFamily="18" charset="0"/>
              </a:rPr>
              <a:t/>
            </a:r>
            <a:br>
              <a:rPr>
                <a:latin typeface="Times New Roman" pitchFamily="18" charset="0"/>
                <a:cs typeface="Times New Roman" pitchFamily="18" charset="0"/>
              </a:rPr>
            </a:br>
            <a:r>
              <a:rPr sz="1300" b="1">
                <a:solidFill>
                  <a:srgbClr val="191919"/>
                </a:solidFill>
                <a:latin typeface="Times New Roman" pitchFamily="18" charset="0"/>
                <a:cs typeface="Times New Roman" pitchFamily="18" charset="0"/>
              </a:rPr>
              <a:t>Output</a:t>
            </a:r>
          </a:p>
        </p:txBody>
      </p:sp>
      <p:sp>
        <p:nvSpPr>
          <p:cNvPr id="15" name="TextBox 14"/>
          <p:cNvSpPr txBox="1"/>
          <p:nvPr/>
        </p:nvSpPr>
        <p:spPr>
          <a:xfrm>
            <a:off x="1095460" y="4767071"/>
            <a:ext cx="9875520" cy="267766"/>
          </a:xfrm>
          <a:prstGeom prst="rect">
            <a:avLst/>
          </a:prstGeom>
          <a:noFill/>
        </p:spPr>
        <p:txBody>
          <a:bodyPr wrap="square" lIns="27432" tIns="18288" rIns="27432" bIns="18288">
            <a:spAutoFit/>
          </a:bodyPr>
          <a:lstStyle/>
          <a:p>
            <a:pPr>
              <a:spcAft>
                <a:spcPts val="1000"/>
              </a:spcAft>
              <a:defRPr sz="1500">
                <a:solidFill>
                  <a:srgbClr val="191919"/>
                </a:solidFill>
                <a:latin typeface="Aptos"/>
              </a:defRPr>
            </a:pPr>
            <a:r>
              <a:rPr dirty="0">
                <a:latin typeface="Times New Roman" pitchFamily="18" charset="0"/>
                <a:cs typeface="Times New Roman" pitchFamily="18" charset="0"/>
              </a:rPr>
              <a:t>Algorithms: String Matching • Interval DP / Optimal BST • Max-Flow / Min-Cut • Approximation • Randomized / Parallel</a:t>
            </a:r>
          </a:p>
        </p:txBody>
      </p:sp>
    </p:spTree>
    <p:extLst>
      <p:ext uri="{BB962C8B-B14F-4D97-AF65-F5344CB8AC3E}">
        <p14:creationId xmlns:p14="http://schemas.microsoft.com/office/powerpoint/2010/main" val="3241277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547581"/>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501767"/>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p:cNvSpPr txBox="1"/>
          <p:nvPr/>
        </p:nvSpPr>
        <p:spPr>
          <a:xfrm>
            <a:off x="2571126" y="1258442"/>
            <a:ext cx="7930835" cy="4662815"/>
          </a:xfrm>
          <a:prstGeom prst="rect">
            <a:avLst/>
          </a:prstGeom>
          <a:noFill/>
        </p:spPr>
        <p:txBody>
          <a:bodyPr wrap="square" rtlCol="0">
            <a:spAutoFit/>
          </a:bodyPr>
          <a:lstStyle/>
          <a:p>
            <a:pPr algn="just">
              <a:lnSpc>
                <a:spcPct val="150000"/>
              </a:lnSpc>
            </a:pPr>
            <a:r>
              <a:rPr lang="en-US" dirty="0">
                <a:latin typeface="Times New Roman" pitchFamily="18" charset="0"/>
                <a:cs typeface="Times New Roman" pitchFamily="18" charset="0"/>
              </a:rPr>
              <a:t>The system is expected to provide optimized results for different healthcare operations.</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Successfully accepts </a:t>
            </a:r>
            <a:r>
              <a:rPr lang="en-US" b="1" dirty="0">
                <a:latin typeface="Times New Roman" pitchFamily="18" charset="0"/>
                <a:cs typeface="Times New Roman" pitchFamily="18" charset="0"/>
              </a:rPr>
              <a:t>keys and their search frequencies</a:t>
            </a:r>
            <a:r>
              <a:rPr lang="en-US" dirty="0">
                <a:latin typeface="Times New Roman" pitchFamily="18" charset="0"/>
                <a:cs typeface="Times New Roman" pitchFamily="18" charset="0"/>
              </a:rPr>
              <a:t>.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Constructs the </a:t>
            </a:r>
            <a:r>
              <a:rPr lang="en-US" b="1" dirty="0">
                <a:latin typeface="Times New Roman" pitchFamily="18" charset="0"/>
                <a:cs typeface="Times New Roman" pitchFamily="18" charset="0"/>
              </a:rPr>
              <a:t>Optimal Binary Search Tree</a:t>
            </a:r>
            <a:r>
              <a:rPr lang="en-US" dirty="0">
                <a:latin typeface="Times New Roman" pitchFamily="18" charset="0"/>
                <a:cs typeface="Times New Roman" pitchFamily="18" charset="0"/>
              </a:rPr>
              <a:t> using Interval DP.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Displays the resulting tree structure.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Calculates the </a:t>
            </a:r>
            <a:r>
              <a:rPr lang="en-US" b="1" dirty="0">
                <a:latin typeface="Times New Roman" pitchFamily="18" charset="0"/>
                <a:cs typeface="Times New Roman" pitchFamily="18" charset="0"/>
              </a:rPr>
              <a:t>minimum search cost</a:t>
            </a:r>
            <a:r>
              <a:rPr lang="en-US" dirty="0">
                <a:latin typeface="Times New Roman" pitchFamily="18" charset="0"/>
                <a:cs typeface="Times New Roman" pitchFamily="18" charset="0"/>
              </a:rPr>
              <a:t>.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Calculates the </a:t>
            </a:r>
            <a:r>
              <a:rPr lang="en-US" b="1" dirty="0">
                <a:latin typeface="Times New Roman" pitchFamily="18" charset="0"/>
                <a:cs typeface="Times New Roman" pitchFamily="18" charset="0"/>
              </a:rPr>
              <a:t>expected search cost</a:t>
            </a:r>
            <a:r>
              <a:rPr lang="en-US" dirty="0">
                <a:latin typeface="Times New Roman" pitchFamily="18" charset="0"/>
                <a:cs typeface="Times New Roman" pitchFamily="18" charset="0"/>
              </a:rPr>
              <a:t> based on frequencies.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Performs healthcare information searching using string algorithms.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Allocates available resources using network-flow techniques.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Provides efficient processing for larger workloads using advanced algorithmic techniques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60072" y="1787052"/>
            <a:ext cx="8358448" cy="3068019"/>
          </a:xfrm>
          <a:prstGeom prst="rect">
            <a:avLst/>
          </a:prstGeom>
          <a:noFill/>
        </p:spPr>
        <p:txBody>
          <a:bodyPr wrap="square" lIns="27432" tIns="18288" rIns="27432" bIns="18288">
            <a:spAutoFit/>
          </a:bodyPr>
          <a:lstStyle/>
          <a:p>
            <a:pPr>
              <a:lnSpc>
                <a:spcPct val="150000"/>
              </a:lnSpc>
              <a:spcAft>
                <a:spcPts val="1000"/>
              </a:spcAft>
              <a:defRPr sz="1800">
                <a:solidFill>
                  <a:srgbClr val="191919"/>
                </a:solidFill>
                <a:latin typeface="Aptos"/>
              </a:defRPr>
            </a:pPr>
            <a:r>
              <a:rPr dirty="0">
                <a:latin typeface="Times New Roman" pitchFamily="18" charset="0"/>
                <a:cs typeface="Times New Roman" pitchFamily="18" charset="0"/>
              </a:rPr>
              <a:t>The system demonstrates the use of advanced algorithms for healthcare search, optimization, resource allocation, and emergency management.</a:t>
            </a:r>
          </a:p>
          <a:p>
            <a:pPr>
              <a:lnSpc>
                <a:spcPct val="150000"/>
              </a:lnSpc>
              <a:spcAft>
                <a:spcPts val="1000"/>
              </a:spcAft>
              <a:defRPr sz="1800">
                <a:solidFill>
                  <a:srgbClr val="191919"/>
                </a:solidFill>
                <a:latin typeface="Aptos"/>
              </a:defRPr>
            </a:pPr>
            <a:r>
              <a:rPr dirty="0">
                <a:latin typeface="Times New Roman" pitchFamily="18" charset="0"/>
                <a:cs typeface="Times New Roman" pitchFamily="18" charset="0"/>
              </a:rPr>
              <a:t>CO1: Algorithm selection | CO2: String Matching | CO3: Interval DP &amp; Optimal BST</a:t>
            </a:r>
          </a:p>
          <a:p>
            <a:pPr>
              <a:lnSpc>
                <a:spcPct val="150000"/>
              </a:lnSpc>
              <a:spcAft>
                <a:spcPts val="1000"/>
              </a:spcAft>
              <a:defRPr sz="1800">
                <a:solidFill>
                  <a:srgbClr val="191919"/>
                </a:solidFill>
                <a:latin typeface="Aptos"/>
              </a:defRPr>
            </a:pPr>
            <a:r>
              <a:rPr dirty="0">
                <a:latin typeface="Times New Roman" pitchFamily="18" charset="0"/>
                <a:cs typeface="Times New Roman" pitchFamily="18" charset="0"/>
              </a:rPr>
              <a:t>CO4: Max-Flow / Min-Cut | CO5: NP-Hard &amp; Approximation | CO6: Randomized &amp; Parallel Algorithms</a:t>
            </a:r>
          </a:p>
          <a:p>
            <a:pPr>
              <a:lnSpc>
                <a:spcPct val="150000"/>
              </a:lnSpc>
              <a:spcAft>
                <a:spcPts val="1000"/>
              </a:spcAft>
              <a:defRPr sz="1800">
                <a:solidFill>
                  <a:srgbClr val="191919"/>
                </a:solidFill>
                <a:latin typeface="Aptos"/>
              </a:defRPr>
            </a:pPr>
            <a:r>
              <a:rPr dirty="0">
                <a:latin typeface="Times New Roman" pitchFamily="18" charset="0"/>
                <a:cs typeface="Times New Roman" pitchFamily="18" charset="0"/>
              </a:rPr>
              <a:t>The project keeps search and healthcare resource optimization as the central theme</a:t>
            </a:r>
            <a:r>
              <a:rPr sz="2800" dirty="0">
                <a:latin typeface="Times New Roman" pitchFamily="18" charset="0"/>
                <a:cs typeface="Times New Roman" pitchFamily="18" charset="0"/>
              </a:rPr>
              <a:t>.</a:t>
            </a:r>
          </a:p>
        </p:txBody>
      </p:sp>
    </p:spTree>
    <p:extLst>
      <p:ext uri="{BB962C8B-B14F-4D97-AF65-F5344CB8AC3E}">
        <p14:creationId xmlns:p14="http://schemas.microsoft.com/office/powerpoint/2010/main" val="3368576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397833"/>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48346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p:cNvSpPr txBox="1"/>
          <p:nvPr/>
        </p:nvSpPr>
        <p:spPr>
          <a:xfrm>
            <a:off x="2272415" y="1140754"/>
            <a:ext cx="8237810" cy="5170646"/>
          </a:xfrm>
          <a:prstGeom prst="rect">
            <a:avLst/>
          </a:prstGeom>
          <a:noFill/>
        </p:spPr>
        <p:txBody>
          <a:bodyPr wrap="square" rtlCol="0">
            <a:spAutoFit/>
          </a:bodyPr>
          <a:lstStyle/>
          <a:p>
            <a:pPr algn="just">
              <a:lnSpc>
                <a:spcPct val="150000"/>
              </a:lnSpc>
            </a:pPr>
            <a:r>
              <a:rPr lang="en-US" sz="2000" b="1" dirty="0">
                <a:latin typeface="Times New Roman" pitchFamily="18" charset="0"/>
                <a:cs typeface="Times New Roman" pitchFamily="18" charset="0"/>
              </a:rPr>
              <a:t>Hardware </a:t>
            </a:r>
            <a:r>
              <a:rPr lang="en-US" sz="2000" b="1" dirty="0" smtClean="0">
                <a:latin typeface="Times New Roman" pitchFamily="18" charset="0"/>
                <a:cs typeface="Times New Roman" pitchFamily="18" charset="0"/>
              </a:rPr>
              <a:t>Requirements :</a:t>
            </a:r>
            <a:endParaRPr lang="en-US" sz="2000" b="1"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Processor:</a:t>
            </a:r>
            <a:r>
              <a:rPr lang="en-US" dirty="0">
                <a:latin typeface="Times New Roman" pitchFamily="18" charset="0"/>
                <a:cs typeface="Times New Roman" pitchFamily="18" charset="0"/>
              </a:rPr>
              <a:t> Intel i3 / equivalent or higher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RAM:</a:t>
            </a:r>
            <a:r>
              <a:rPr lang="en-US" dirty="0">
                <a:latin typeface="Times New Roman" pitchFamily="18" charset="0"/>
                <a:cs typeface="Times New Roman" pitchFamily="18" charset="0"/>
              </a:rPr>
              <a:t> 4 GB or above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Storage:</a:t>
            </a:r>
            <a:r>
              <a:rPr lang="en-US" dirty="0">
                <a:latin typeface="Times New Roman" pitchFamily="18" charset="0"/>
                <a:cs typeface="Times New Roman" pitchFamily="18" charset="0"/>
              </a:rPr>
              <a:t> Minimum 10 GB available space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Input:</a:t>
            </a:r>
            <a:r>
              <a:rPr lang="en-US" dirty="0">
                <a:latin typeface="Times New Roman" pitchFamily="18" charset="0"/>
                <a:cs typeface="Times New Roman" pitchFamily="18" charset="0"/>
              </a:rPr>
              <a:t> Keyboard and Mouse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Output:</a:t>
            </a:r>
            <a:r>
              <a:rPr lang="en-US" dirty="0">
                <a:latin typeface="Times New Roman" pitchFamily="18" charset="0"/>
                <a:cs typeface="Times New Roman" pitchFamily="18" charset="0"/>
              </a:rPr>
              <a:t> Monitor / Display </a:t>
            </a:r>
          </a:p>
          <a:p>
            <a:pPr algn="just">
              <a:lnSpc>
                <a:spcPct val="150000"/>
              </a:lnSpc>
            </a:pPr>
            <a:r>
              <a:rPr lang="en-US" sz="2000" b="1" dirty="0">
                <a:latin typeface="Times New Roman" pitchFamily="18" charset="0"/>
                <a:cs typeface="Times New Roman" pitchFamily="18" charset="0"/>
              </a:rPr>
              <a:t>Software </a:t>
            </a:r>
            <a:r>
              <a:rPr lang="en-US" sz="2000" b="1" dirty="0" smtClean="0">
                <a:latin typeface="Times New Roman" pitchFamily="18" charset="0"/>
                <a:cs typeface="Times New Roman" pitchFamily="18" charset="0"/>
              </a:rPr>
              <a:t>Requirements :</a:t>
            </a:r>
            <a:endParaRPr lang="en-US" sz="2000" b="1"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Operating System:</a:t>
            </a:r>
            <a:r>
              <a:rPr lang="en-US" dirty="0">
                <a:latin typeface="Times New Roman" pitchFamily="18" charset="0"/>
                <a:cs typeface="Times New Roman" pitchFamily="18" charset="0"/>
              </a:rPr>
              <a:t> Windows / Linux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Programming Language:</a:t>
            </a:r>
            <a:r>
              <a:rPr lang="en-US" dirty="0">
                <a:latin typeface="Times New Roman" pitchFamily="18" charset="0"/>
                <a:cs typeface="Times New Roman" pitchFamily="18" charset="0"/>
              </a:rPr>
              <a:t> Java / Python / C++ </a:t>
            </a:r>
            <a:r>
              <a:rPr lang="en-US" i="1" dirty="0">
                <a:latin typeface="Times New Roman" pitchFamily="18" charset="0"/>
                <a:cs typeface="Times New Roman" pitchFamily="18" charset="0"/>
              </a:rPr>
              <a:t>(based on implementation)</a:t>
            </a:r>
            <a:r>
              <a:rPr lang="en-US" dirty="0">
                <a:latin typeface="Times New Roman" pitchFamily="18" charset="0"/>
                <a:cs typeface="Times New Roman" pitchFamily="18" charset="0"/>
              </a:rPr>
              <a:t>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IDE / Code Editor:</a:t>
            </a:r>
            <a:r>
              <a:rPr lang="en-US" dirty="0">
                <a:latin typeface="Times New Roman" pitchFamily="18" charset="0"/>
                <a:cs typeface="Times New Roman" pitchFamily="18" charset="0"/>
              </a:rPr>
              <a:t> VS Code / </a:t>
            </a:r>
            <a:r>
              <a:rPr lang="en-US" dirty="0" err="1">
                <a:latin typeface="Times New Roman" pitchFamily="18" charset="0"/>
                <a:cs typeface="Times New Roman" pitchFamily="18" charset="0"/>
              </a:rPr>
              <a:t>IntelliJ</a:t>
            </a:r>
            <a:r>
              <a:rPr lang="en-US" dirty="0">
                <a:latin typeface="Times New Roman" pitchFamily="18" charset="0"/>
                <a:cs typeface="Times New Roman" pitchFamily="18" charset="0"/>
              </a:rPr>
              <a:t> / Eclipse </a:t>
            </a:r>
          </a:p>
          <a:p>
            <a:pPr marL="285750" indent="-285750" algn="just">
              <a:lnSpc>
                <a:spcPct val="150000"/>
              </a:lnSpc>
              <a:buFont typeface="Arial" pitchFamily="34" charset="0"/>
              <a:buChar char="•"/>
            </a:pPr>
            <a:r>
              <a:rPr lang="en-US" b="1" dirty="0">
                <a:latin typeface="Times New Roman" pitchFamily="18" charset="0"/>
                <a:cs typeface="Times New Roman" pitchFamily="18" charset="0"/>
              </a:rPr>
              <a:t>Compiler / Runtime:</a:t>
            </a:r>
            <a:r>
              <a:rPr lang="en-US" dirty="0">
                <a:latin typeface="Times New Roman" pitchFamily="18" charset="0"/>
                <a:cs typeface="Times New Roman" pitchFamily="18" charset="0"/>
              </a:rPr>
              <a:t> Required compiler or interpreter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Development environment for implementing advanced </a:t>
            </a:r>
            <a:r>
              <a:rPr lang="en-US" dirty="0" smtClean="0">
                <a:latin typeface="Times New Roman" pitchFamily="18" charset="0"/>
                <a:cs typeface="Times New Roman" pitchFamily="18" charset="0"/>
              </a:rPr>
              <a:t>algorithms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292750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1099814"/>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056991"/>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p:cNvSpPr txBox="1"/>
          <p:nvPr/>
        </p:nvSpPr>
        <p:spPr>
          <a:xfrm>
            <a:off x="2399159" y="2100364"/>
            <a:ext cx="8419722" cy="4108817"/>
          </a:xfrm>
          <a:prstGeom prst="rect">
            <a:avLst/>
          </a:prstGeom>
          <a:noFill/>
        </p:spPr>
        <p:txBody>
          <a:bodyPr wrap="square" rtlCol="0">
            <a:spAutoFit/>
          </a:bodyPr>
          <a:lstStyle/>
          <a:p>
            <a:pPr algn="just">
              <a:lnSpc>
                <a:spcPct val="150000"/>
              </a:lnSpc>
            </a:pPr>
            <a:r>
              <a:rPr lang="en-US" dirty="0">
                <a:latin typeface="Times New Roman" pitchFamily="18" charset="0"/>
                <a:cs typeface="Times New Roman" pitchFamily="18" charset="0"/>
              </a:rPr>
              <a:t>The </a:t>
            </a:r>
            <a:r>
              <a:rPr lang="en-US" b="1" dirty="0">
                <a:latin typeface="Times New Roman" pitchFamily="18" charset="0"/>
                <a:cs typeface="Times New Roman" pitchFamily="18" charset="0"/>
              </a:rPr>
              <a:t>Smart Healthcare Resource &amp; Emergency Management System</a:t>
            </a:r>
            <a:r>
              <a:rPr lang="en-US" dirty="0">
                <a:latin typeface="Times New Roman" pitchFamily="18" charset="0"/>
                <a:cs typeface="Times New Roman" pitchFamily="18" charset="0"/>
              </a:rPr>
              <a:t> demonstrates the practical application of advanced algorithms to healthcare management problems</a:t>
            </a:r>
            <a:r>
              <a:rPr lang="en-US" dirty="0" smtClean="0">
                <a:latin typeface="Times New Roman" pitchFamily="18" charset="0"/>
                <a:cs typeface="Times New Roman" pitchFamily="18" charset="0"/>
              </a:rPr>
              <a:t>.</a:t>
            </a:r>
          </a:p>
          <a:p>
            <a:pPr algn="just">
              <a:lnSpc>
                <a:spcPct val="150000"/>
              </a:lnSpc>
            </a:pPr>
            <a:endParaRPr lang="en-US" dirty="0">
              <a:latin typeface="Times New Roman" pitchFamily="18" charset="0"/>
              <a:cs typeface="Times New Roman" pitchFamily="18" charset="0"/>
            </a:endParaRPr>
          </a:p>
          <a:p>
            <a:pPr algn="just">
              <a:lnSpc>
                <a:spcPct val="150000"/>
              </a:lnSpc>
            </a:pPr>
            <a:r>
              <a:rPr lang="en-US" dirty="0">
                <a:latin typeface="Times New Roman" pitchFamily="18" charset="0"/>
                <a:cs typeface="Times New Roman" pitchFamily="18" charset="0"/>
              </a:rPr>
              <a:t>The core optimization component uses an </a:t>
            </a:r>
            <a:r>
              <a:rPr lang="en-US" b="1" dirty="0">
                <a:latin typeface="Times New Roman" pitchFamily="18" charset="0"/>
                <a:cs typeface="Times New Roman" pitchFamily="18" charset="0"/>
              </a:rPr>
              <a:t>Optimal Binary Search Tree</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Interval Dynamic Programming</a:t>
            </a:r>
            <a:r>
              <a:rPr lang="en-US" dirty="0">
                <a:latin typeface="Times New Roman" pitchFamily="18" charset="0"/>
                <a:cs typeface="Times New Roman" pitchFamily="18" charset="0"/>
              </a:rPr>
              <a:t> to arrange frequently accessed keys and minimize expected search cost. String matching algorithms provide efficient information searching, while network-flow algorithms support resource allocation under capacity constraints. NP-hard and approximation concepts address complex scheduling problems, and randomized and parallel techniques support large-scale processing.</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1136026"/>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086593"/>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p:cNvSpPr txBox="1"/>
          <p:nvPr/>
        </p:nvSpPr>
        <p:spPr>
          <a:xfrm>
            <a:off x="2625483" y="2000790"/>
            <a:ext cx="8030423" cy="4108817"/>
          </a:xfrm>
          <a:prstGeom prst="rect">
            <a:avLst/>
          </a:prstGeom>
          <a:noFill/>
        </p:spPr>
        <p:txBody>
          <a:bodyPr wrap="square" rtlCol="0">
            <a:spAutoFit/>
          </a:bodyPr>
          <a:lstStyle/>
          <a:p>
            <a:pPr algn="just">
              <a:lnSpc>
                <a:spcPct val="150000"/>
              </a:lnSpc>
            </a:pPr>
            <a:r>
              <a:rPr lang="en-US" dirty="0">
                <a:latin typeface="Times New Roman" pitchFamily="18" charset="0"/>
                <a:cs typeface="Times New Roman" pitchFamily="18" charset="0"/>
              </a:rPr>
              <a:t>The proposed system can be extended to improve its performance and handle more complex healthcare scenarios.</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Support </a:t>
            </a:r>
            <a:r>
              <a:rPr lang="en-US" b="1" dirty="0">
                <a:latin typeface="Times New Roman" pitchFamily="18" charset="0"/>
                <a:cs typeface="Times New Roman" pitchFamily="18" charset="0"/>
              </a:rPr>
              <a:t>larger numbers of patients, keys, and search frequencies</a:t>
            </a:r>
            <a:r>
              <a:rPr lang="en-US" dirty="0">
                <a:latin typeface="Times New Roman" pitchFamily="18" charset="0"/>
                <a:cs typeface="Times New Roman" pitchFamily="18" charset="0"/>
              </a:rPr>
              <a:t>.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Handle larger healthcare information and search datasets.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Improve Optimal BST construction for larger inputs.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Extend resource allocation to more types of healthcare resources.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Improve scheduling and optimization for complex cases.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Increase processing efficiency using better randomized and parallel techniques.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Compare different algorithms based on </a:t>
            </a:r>
            <a:r>
              <a:rPr lang="en-US" b="1" dirty="0">
                <a:latin typeface="Times New Roman" pitchFamily="18" charset="0"/>
                <a:cs typeface="Times New Roman" pitchFamily="18" charset="0"/>
              </a:rPr>
              <a:t>time, space, and search cost</a:t>
            </a:r>
            <a:r>
              <a:rPr lang="en-US" dirty="0">
                <a:latin typeface="Times New Roman" pitchFamily="18" charset="0"/>
                <a:cs typeface="Times New Roman" pitchFamily="18" charset="0"/>
              </a:rPr>
              <a:t>.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942</Words>
  <Application>Microsoft Office PowerPoint</Application>
  <PresentationFormat>Custom</PresentationFormat>
  <Paragraphs>99</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   Data Structures and Algorithms -3 (25CS2103E)  Smart Healthcare Resource &amp; Emergency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DELL</cp:lastModifiedBy>
  <cp:revision>28</cp:revision>
  <dcterms:created xsi:type="dcterms:W3CDTF">2024-08-29T05:25:00Z</dcterms:created>
  <dcterms:modified xsi:type="dcterms:W3CDTF">2026-09-21T10:02:37Z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