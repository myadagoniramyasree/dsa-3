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588" y="-6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545156"/>
            <a:ext cx="9144000" cy="2316702"/>
          </a:xfrm>
        </p:spPr>
        <p:txBody>
          <a:bodyPr/>
          <a:lstStyle/>
          <a:p>
            <a:r>
              <a:rPr lang="en-US" b="1" dirty="0">
                <a:solidFill>
                  <a:srgbClr val="C00000"/>
                </a:solidFill>
                <a:latin typeface="Times New Roman" pitchFamily="18" charset="0"/>
                <a:cs typeface="Times New Roman" pitchFamily="18" charset="0"/>
              </a:rPr>
              <a:t/>
            </a:r>
            <a:br>
              <a:rPr lang="en-US" b="1" dirty="0">
                <a:solidFill>
                  <a:srgbClr val="C00000"/>
                </a:solidFill>
                <a:latin typeface="Times New Roman" pitchFamily="18" charset="0"/>
                <a:cs typeface="Times New Roman" pitchFamily="18" charset="0"/>
              </a:rPr>
            </a:br>
            <a:r>
              <a:rPr lang="en-US" b="1" dirty="0">
                <a:solidFill>
                  <a:srgbClr val="C00000"/>
                </a:solidFill>
                <a:latin typeface="Times New Roman" pitchFamily="18" charset="0"/>
                <a:cs typeface="Times New Roman" pitchFamily="18" charset="0"/>
              </a:rPr>
              <a:t/>
            </a:r>
            <a:br>
              <a:rPr lang="en-US" b="1" dirty="0">
                <a:solidFill>
                  <a:srgbClr val="C00000"/>
                </a:solidFill>
                <a:latin typeface="Times New Roman" pitchFamily="18" charset="0"/>
                <a:cs typeface="Times New Roman" pitchFamily="18" charset="0"/>
              </a:rPr>
            </a:br>
            <a:r>
              <a:rPr lang="en-US" b="1" dirty="0">
                <a:solidFill>
                  <a:srgbClr val="C00000"/>
                </a:solidFill>
                <a:latin typeface="Times New Roman" pitchFamily="18" charset="0"/>
                <a:cs typeface="Times New Roman" pitchFamily="18" charset="0"/>
              </a:rPr>
              <a:t/>
            </a:r>
            <a:br>
              <a:rPr lang="en-US" b="1" dirty="0">
                <a:solidFill>
                  <a:srgbClr val="C00000"/>
                </a:solidFill>
                <a:latin typeface="Times New Roman" pitchFamily="18" charset="0"/>
                <a:cs typeface="Times New Roman" pitchFamily="18" charset="0"/>
              </a:rPr>
            </a:br>
            <a:r>
              <a:rPr lang="en-US" b="1" dirty="0">
                <a:solidFill>
                  <a:srgbClr val="C00000"/>
                </a:solidFill>
                <a:latin typeface="Times New Roman" pitchFamily="18" charset="0"/>
                <a:cs typeface="Times New Roman" pitchFamily="18" charset="0"/>
              </a:rPr>
              <a:t/>
            </a:r>
            <a:br>
              <a:rPr lang="en-US" b="1" dirty="0">
                <a:solidFill>
                  <a:srgbClr val="C00000"/>
                </a:solidFill>
                <a:latin typeface="Times New Roman" pitchFamily="18" charset="0"/>
                <a:cs typeface="Times New Roman" pitchFamily="18" charset="0"/>
              </a:rPr>
            </a:br>
            <a:r>
              <a:rPr lang="en-US" b="1" dirty="0">
                <a:solidFill>
                  <a:srgbClr val="C00000"/>
                </a:solidFill>
                <a:latin typeface="Times New Roman" pitchFamily="18" charset="0"/>
                <a:cs typeface="Times New Roman" pitchFamily="18" charset="0"/>
              </a:rPr>
              <a:t/>
            </a:r>
            <a:br>
              <a:rPr lang="en-US" b="1" dirty="0">
                <a:solidFill>
                  <a:srgbClr val="C00000"/>
                </a:solidFill>
                <a:latin typeface="Times New Roman" pitchFamily="18" charset="0"/>
                <a:cs typeface="Times New Roman" pitchFamily="18" charset="0"/>
              </a:rPr>
            </a:br>
            <a:r>
              <a:rPr lang="en-US" b="1" dirty="0">
                <a:solidFill>
                  <a:srgbClr val="C00000"/>
                </a:solidFill>
                <a:latin typeface="Times New Roman" pitchFamily="18" charset="0"/>
                <a:cs typeface="Times New Roman" pitchFamily="18" charset="0"/>
              </a:rPr>
              <a:t/>
            </a:r>
            <a:br>
              <a:rPr lang="en-US" b="1" dirty="0">
                <a:solidFill>
                  <a:srgbClr val="C00000"/>
                </a:solidFill>
                <a:latin typeface="Times New Roman" pitchFamily="18" charset="0"/>
                <a:cs typeface="Times New Roman" pitchFamily="18" charset="0"/>
              </a:rPr>
            </a:br>
            <a:r>
              <a:rPr lang="en-US" sz="4000" b="1" dirty="0">
                <a:solidFill>
                  <a:srgbClr val="C00000"/>
                </a:solidFill>
                <a:latin typeface="Times New Roman" pitchFamily="18" charset="0"/>
                <a:cs typeface="Times New Roman" pitchFamily="18" charset="0"/>
              </a:rPr>
              <a:t/>
            </a:r>
            <a:br>
              <a:rPr lang="en-US" sz="4000" b="1" dirty="0">
                <a:solidFill>
                  <a:srgbClr val="C00000"/>
                </a:solidFill>
                <a:latin typeface="Times New Roman" pitchFamily="18" charset="0"/>
                <a:cs typeface="Times New Roman" pitchFamily="18" charset="0"/>
              </a:rPr>
            </a:br>
            <a:r>
              <a:rPr lang="en-US" sz="3600" b="1" dirty="0">
                <a:solidFill>
                  <a:srgbClr val="C00000"/>
                </a:solidFill>
                <a:latin typeface="Times New Roman" pitchFamily="18" charset="0"/>
                <a:cs typeface="Times New Roman" pitchFamily="18" charset="0"/>
              </a:rPr>
              <a:t>Data Structures and Algorithms -3 </a:t>
            </a:r>
            <a:r>
              <a:rPr lang="en-US" sz="3200" b="1" dirty="0">
                <a:solidFill>
                  <a:srgbClr val="C00000"/>
                </a:solidFill>
                <a:latin typeface="Times New Roman" pitchFamily="18" charset="0"/>
                <a:cs typeface="Times New Roman" pitchFamily="18" charset="0"/>
              </a:rPr>
              <a:t>(25CS2103E</a:t>
            </a:r>
            <a:r>
              <a:rPr lang="en-US" sz="3200" b="1" dirty="0" smtClean="0">
                <a:solidFill>
                  <a:srgbClr val="C00000"/>
                </a:solidFill>
                <a:latin typeface="Times New Roman" pitchFamily="18" charset="0"/>
                <a:cs typeface="Times New Roman" pitchFamily="18" charset="0"/>
              </a:rPr>
              <a:t>)</a:t>
            </a:r>
            <a:r>
              <a:rPr lang="en-US" sz="4000" b="1" dirty="0">
                <a:solidFill>
                  <a:srgbClr val="C00000"/>
                </a:solidFill>
                <a:latin typeface="Times New Roman" pitchFamily="18" charset="0"/>
                <a:cs typeface="Times New Roman" pitchFamily="18" charset="0"/>
              </a:rPr>
              <a:t/>
            </a:r>
            <a:br>
              <a:rPr lang="en-US" sz="4000" b="1" dirty="0">
                <a:solidFill>
                  <a:srgbClr val="C00000"/>
                </a:solidFill>
                <a:latin typeface="Times New Roman" pitchFamily="18" charset="0"/>
                <a:cs typeface="Times New Roman" pitchFamily="18" charset="0"/>
              </a:rPr>
            </a:br>
            <a:r>
              <a:rPr lang="en-US" sz="3600" b="1" dirty="0" err="1">
                <a:solidFill>
                  <a:srgbClr val="C00000"/>
                </a:solidFill>
                <a:latin typeface="Times New Roman" pitchFamily="18" charset="0"/>
                <a:cs typeface="Times New Roman" pitchFamily="18" charset="0"/>
              </a:rPr>
              <a:t>CareTree</a:t>
            </a:r>
            <a:r>
              <a:rPr lang="en-US" sz="3600" b="1" dirty="0">
                <a:solidFill>
                  <a:srgbClr val="C00000"/>
                </a:solidFill>
                <a:latin typeface="Times New Roman" pitchFamily="18" charset="0"/>
                <a:cs typeface="Times New Roman" pitchFamily="18" charset="0"/>
              </a:rPr>
              <a:t> – Advanced Algorithm-Based Hospital Care Management System</a:t>
            </a:r>
            <a:endParaRPr lang="en-US" sz="3600" b="1" dirty="0">
              <a:solidFill>
                <a:srgbClr val="C0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4270160" y="3030904"/>
            <a:ext cx="4551284" cy="1590321"/>
          </a:xfrm>
        </p:spPr>
        <p:txBody>
          <a:bodyPr/>
          <a:lstStyle/>
          <a:p>
            <a:r>
              <a:rPr lang="en-US" b="1" dirty="0">
                <a:latin typeface="Times New Roman" pitchFamily="18" charset="0"/>
                <a:cs typeface="Times New Roman" pitchFamily="18" charset="0"/>
              </a:rPr>
              <a:t>Team </a:t>
            </a:r>
            <a:r>
              <a:rPr lang="en-US" b="1" dirty="0" smtClean="0">
                <a:latin typeface="Times New Roman" pitchFamily="18" charset="0"/>
                <a:cs typeface="Times New Roman" pitchFamily="18" charset="0"/>
              </a:rPr>
              <a:t>Members :</a:t>
            </a:r>
            <a:endParaRPr lang="en-US" b="1" dirty="0">
              <a:latin typeface="Times New Roman" pitchFamily="18" charset="0"/>
              <a:cs typeface="Times New Roman" pitchFamily="18" charset="0"/>
            </a:endParaRPr>
          </a:p>
          <a:p>
            <a:pPr algn="l"/>
            <a:r>
              <a:rPr lang="en-US" sz="1800" kern="0" dirty="0" smtClean="0">
                <a:effectLst/>
                <a:latin typeface="Times New Roman" panose="02020603050405020304" pitchFamily="18" charset="0"/>
                <a:ea typeface="Times New Roman" panose="02020603050405020304" pitchFamily="18" charset="0"/>
                <a:cs typeface="Times New Roman" pitchFamily="18" charset="0"/>
              </a:rPr>
              <a:t>       M</a:t>
            </a:r>
            <a:r>
              <a:rPr lang="en-US" sz="1800" kern="0" dirty="0">
                <a:effectLst/>
                <a:latin typeface="Times New Roman" panose="02020603050405020304" pitchFamily="18" charset="0"/>
                <a:ea typeface="Times New Roman" panose="02020603050405020304" pitchFamily="18" charset="0"/>
                <a:cs typeface="Times New Roman" pitchFamily="18" charset="0"/>
              </a:rPr>
              <a:t>. Ramya </a:t>
            </a:r>
            <a:r>
              <a:rPr lang="en-US" sz="1800" kern="0" dirty="0" err="1">
                <a:effectLst/>
                <a:latin typeface="Times New Roman" panose="02020603050405020304" pitchFamily="18" charset="0"/>
                <a:ea typeface="Times New Roman" panose="02020603050405020304" pitchFamily="18" charset="0"/>
                <a:cs typeface="Times New Roman" pitchFamily="18" charset="0"/>
              </a:rPr>
              <a:t>Sree</a:t>
            </a:r>
            <a:r>
              <a:rPr lang="en-US" sz="1800" kern="0" dirty="0">
                <a:effectLst/>
                <a:latin typeface="Times New Roman" panose="02020603050405020304" pitchFamily="18" charset="0"/>
                <a:ea typeface="Times New Roman" panose="02020603050405020304" pitchFamily="18" charset="0"/>
                <a:cs typeface="Times New Roman" pitchFamily="18" charset="0"/>
              </a:rPr>
              <a:t> </a:t>
            </a:r>
            <a:r>
              <a:rPr lang="en-US" sz="1800" kern="0" dirty="0" smtClean="0">
                <a:effectLst/>
                <a:latin typeface="Times New Roman" panose="02020603050405020304" pitchFamily="18" charset="0"/>
                <a:ea typeface="Times New Roman" panose="02020603050405020304" pitchFamily="18" charset="0"/>
                <a:cs typeface="Times New Roman" pitchFamily="18" charset="0"/>
              </a:rPr>
              <a:t>:          </a:t>
            </a:r>
            <a:r>
              <a:rPr lang="en-US" sz="1800" kern="0" dirty="0">
                <a:effectLst/>
                <a:latin typeface="Times New Roman" panose="02020603050405020304" pitchFamily="18" charset="0"/>
                <a:ea typeface="Times New Roman" panose="02020603050405020304" pitchFamily="18" charset="0"/>
                <a:cs typeface="Times New Roman" pitchFamily="18" charset="0"/>
              </a:rPr>
              <a:t>2520030094</a:t>
            </a:r>
          </a:p>
          <a:p>
            <a:pPr algn="l"/>
            <a:r>
              <a:rPr lang="en-US" sz="1800" kern="0" dirty="0" smtClean="0">
                <a:effectLst/>
                <a:latin typeface="Times New Roman" panose="02020603050405020304" pitchFamily="18" charset="0"/>
                <a:ea typeface="Times New Roman" panose="02020603050405020304" pitchFamily="18" charset="0"/>
                <a:cs typeface="Times New Roman" pitchFamily="18" charset="0"/>
              </a:rPr>
              <a:t>       S</a:t>
            </a:r>
            <a:r>
              <a:rPr lang="en-US" sz="1800" kern="0" dirty="0">
                <a:effectLst/>
                <a:latin typeface="Times New Roman" panose="02020603050405020304" pitchFamily="18" charset="0"/>
                <a:ea typeface="Times New Roman" panose="02020603050405020304" pitchFamily="18" charset="0"/>
                <a:cs typeface="Times New Roman" pitchFamily="18" charset="0"/>
              </a:rPr>
              <a:t>. </a:t>
            </a:r>
            <a:r>
              <a:rPr lang="en-US" sz="1800" kern="0" dirty="0" err="1">
                <a:effectLst/>
                <a:latin typeface="Times New Roman" panose="02020603050405020304" pitchFamily="18" charset="0"/>
                <a:ea typeface="Times New Roman" panose="02020603050405020304" pitchFamily="18" charset="0"/>
                <a:cs typeface="Times New Roman" pitchFamily="18" charset="0"/>
              </a:rPr>
              <a:t>Lohitha</a:t>
            </a:r>
            <a:r>
              <a:rPr lang="en-US" sz="1800" kern="0" dirty="0">
                <a:effectLst/>
                <a:latin typeface="Times New Roman" panose="02020603050405020304" pitchFamily="18" charset="0"/>
                <a:ea typeface="Times New Roman" panose="02020603050405020304" pitchFamily="18" charset="0"/>
                <a:cs typeface="Times New Roman" pitchFamily="18" charset="0"/>
              </a:rPr>
              <a:t> </a:t>
            </a:r>
            <a:r>
              <a:rPr lang="en-US" sz="1800" kern="0" dirty="0" smtClean="0">
                <a:effectLst/>
                <a:latin typeface="Times New Roman" panose="02020603050405020304" pitchFamily="18" charset="0"/>
                <a:ea typeface="Times New Roman" panose="02020603050405020304" pitchFamily="18" charset="0"/>
                <a:cs typeface="Times New Roman" pitchFamily="18" charset="0"/>
              </a:rPr>
              <a:t>:                  2520030109</a:t>
            </a:r>
            <a:endParaRPr lang="en-US" sz="1800" kern="0" dirty="0">
              <a:effectLst/>
              <a:latin typeface="Times New Roman" panose="02020603050405020304" pitchFamily="18" charset="0"/>
              <a:ea typeface="Times New Roman" panose="02020603050405020304" pitchFamily="18" charset="0"/>
              <a:cs typeface="Times New Roman" pitchFamily="18" charset="0"/>
            </a:endParaRPr>
          </a:p>
          <a:p>
            <a:pPr algn="l"/>
            <a:r>
              <a:rPr lang="en-US" sz="1800" kern="0" dirty="0" smtClean="0">
                <a:latin typeface="Times New Roman" panose="02020603050405020304" pitchFamily="18" charset="0"/>
                <a:ea typeface="Times New Roman" panose="02020603050405020304" pitchFamily="18" charset="0"/>
                <a:cs typeface="Times New Roman" pitchFamily="18" charset="0"/>
              </a:rPr>
              <a:t>       D</a:t>
            </a:r>
            <a:r>
              <a:rPr lang="en-US" sz="1800" kern="0" dirty="0">
                <a:latin typeface="Times New Roman" panose="02020603050405020304" pitchFamily="18" charset="0"/>
                <a:ea typeface="Times New Roman" panose="02020603050405020304" pitchFamily="18" charset="0"/>
                <a:cs typeface="Times New Roman" pitchFamily="18" charset="0"/>
              </a:rPr>
              <a:t>. Teja Sadwika : </a:t>
            </a:r>
            <a:r>
              <a:rPr lang="en-US" sz="1800" kern="0" dirty="0" smtClean="0">
                <a:latin typeface="Times New Roman" panose="02020603050405020304" pitchFamily="18" charset="0"/>
                <a:ea typeface="Times New Roman" panose="02020603050405020304" pitchFamily="18" charset="0"/>
                <a:cs typeface="Times New Roman" pitchFamily="18" charset="0"/>
              </a:rPr>
              <a:t>       2520030536</a:t>
            </a:r>
            <a:endParaRPr lang="en-US" sz="1800" kern="0" dirty="0">
              <a:effectLst/>
              <a:latin typeface="Times New Roman" panose="02020603050405020304" pitchFamily="18" charset="0"/>
              <a:ea typeface="Times New Roman" panose="02020603050405020304" pitchFamily="18" charset="0"/>
              <a:cs typeface="Times New Roman" pitchFamily="18"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Times New Roman" pitchFamily="18" charset="0"/>
              </a:rPr>
              <a:t>Under the Esteemed Guidance of</a:t>
            </a:r>
            <a:endParaRPr lang="en-IN" sz="1800" kern="100" dirty="0">
              <a:effectLst/>
              <a:latin typeface="Times New Roman" pitchFamily="18" charset="0"/>
              <a:ea typeface="Calibri" panose="020F0502020204030204" pitchFamily="34" charset="0"/>
              <a:cs typeface="Times New Roman" pitchFamily="18"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Times New Roman" pitchFamily="18" charset="0"/>
              </a:rPr>
              <a:t>Dr. Swathi – Professor,</a:t>
            </a:r>
          </a:p>
          <a:p>
            <a:pPr algn="ctr">
              <a:lnSpc>
                <a:spcPct val="107000"/>
              </a:lnSpc>
              <a:spcAft>
                <a:spcPts val="800"/>
              </a:spcAft>
            </a:pPr>
            <a:r>
              <a:rPr lang="en-US" sz="1800" b="1" kern="0" dirty="0">
                <a:solidFill>
                  <a:srgbClr val="000000"/>
                </a:solidFill>
                <a:latin typeface="Times New Roman" panose="02020603050405020304" pitchFamily="18" charset="0"/>
                <a:ea typeface="Times New Roman" panose="02020603050405020304" pitchFamily="18" charset="0"/>
                <a:cs typeface="Times New Roman" pitchFamily="18" charset="0"/>
              </a:rPr>
              <a:t>Department of Computer Science &amp; Engineering</a:t>
            </a:r>
            <a:endParaRPr lang="en-US" dirty="0">
              <a:solidFill>
                <a:srgbClr val="0070C0"/>
              </a:solidFill>
              <a:latin typeface="Times New Roman" pitchFamily="18" charset="0"/>
              <a:cs typeface="Times New Roman" pitchFamily="18" charset="0"/>
            </a:endParaRPr>
          </a:p>
          <a:p>
            <a:endParaRPr lang="en-US" b="1" dirty="0">
              <a:solidFill>
                <a:srgbClr val="C00000"/>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1C70C049-38C4-198F-3181-AACE07DE24AE}"/>
              </a:ext>
            </a:extLst>
          </p:cNvPr>
          <p:cNvSpPr txBox="1"/>
          <p:nvPr/>
        </p:nvSpPr>
        <p:spPr>
          <a:xfrm>
            <a:off x="3746742" y="1327248"/>
            <a:ext cx="6017994" cy="5228996"/>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2800" b="0" i="0" u="none" strike="noStrike" kern="1200" dirty="0">
                <a:solidFill>
                  <a:srgbClr val="000000"/>
                </a:solidFill>
                <a:effectLst/>
                <a:latin typeface="Times New Roman" pitchFamily="18" charset="0"/>
                <a:cs typeface="Times New Roman" pitchFamily="18"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2800" b="0" i="0" u="none" strike="noStrike" kern="1200" dirty="0">
                <a:solidFill>
                  <a:srgbClr val="000000"/>
                </a:solidFill>
                <a:effectLst/>
                <a:latin typeface="Times New Roman" pitchFamily="18" charset="0"/>
                <a:cs typeface="Times New Roman" pitchFamily="18" charset="0"/>
              </a:rPr>
              <a:t>Introduction</a:t>
            </a:r>
            <a:endParaRPr lang="en-IN" sz="2800" b="0" i="0" u="none" strike="noStrike" dirty="0">
              <a:effectLst/>
              <a:latin typeface="Times New Roman" pitchFamily="18" charset="0"/>
              <a:cs typeface="Times New Roman" pitchFamily="18"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Times New Roman" pitchFamily="18" charset="0"/>
                <a:ea typeface="Times New Roman" panose="02020603050405020304" pitchFamily="18" charset="0"/>
                <a:cs typeface="Times New Roman" pitchFamily="18" charset="0"/>
              </a:rPr>
              <a:t>Literature survey</a:t>
            </a:r>
            <a:endParaRPr lang="en-IN" sz="2800" b="0" i="0" u="none" strike="noStrike" dirty="0">
              <a:effectLst/>
              <a:latin typeface="Times New Roman" pitchFamily="18" charset="0"/>
              <a:cs typeface="Times New Roman"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Times New Roman" pitchFamily="18" charset="0"/>
                <a:ea typeface="Times New Roman" panose="02020603050405020304" pitchFamily="18" charset="0"/>
                <a:cs typeface="Times New Roman" pitchFamily="18" charset="0"/>
              </a:rPr>
              <a:t>Problem Statement and Objectives</a:t>
            </a:r>
            <a:endParaRPr lang="en-IN" sz="2800" b="0" i="0" u="none" strike="noStrike" dirty="0">
              <a:effectLst/>
              <a:latin typeface="Times New Roman" pitchFamily="18" charset="0"/>
              <a:cs typeface="Times New Roman"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Times New Roman" pitchFamily="18" charset="0"/>
                <a:ea typeface="Times New Roman" panose="02020603050405020304" pitchFamily="18" charset="0"/>
                <a:cs typeface="Times New Roman" pitchFamily="18" charset="0"/>
              </a:rPr>
              <a:t>Hardware and Software requirements</a:t>
            </a:r>
            <a:endParaRPr lang="en-IN" sz="2800" b="0" i="0" u="none" strike="noStrike" dirty="0">
              <a:effectLst/>
              <a:latin typeface="Times New Roman" pitchFamily="18" charset="0"/>
              <a:cs typeface="Times New Roman"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Times New Roman" pitchFamily="18" charset="0"/>
                <a:ea typeface="Times New Roman" panose="02020603050405020304" pitchFamily="18" charset="0"/>
                <a:cs typeface="Times New Roman" pitchFamily="18" charset="0"/>
              </a:rPr>
              <a:t>Results</a:t>
            </a:r>
            <a:endParaRPr lang="en-IN" sz="2800" b="0" i="0" u="none" strike="noStrike" dirty="0">
              <a:effectLst/>
              <a:latin typeface="Times New Roman" pitchFamily="18" charset="0"/>
              <a:cs typeface="Times New Roman"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Times New Roman" pitchFamily="18" charset="0"/>
                <a:ea typeface="Times New Roman" panose="02020603050405020304" pitchFamily="18" charset="0"/>
                <a:cs typeface="Times New Roman" pitchFamily="18"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Times New Roman" pitchFamily="18" charset="0"/>
                <a:ea typeface="Times New Roman" panose="02020603050405020304" pitchFamily="18" charset="0"/>
                <a:cs typeface="Times New Roman" pitchFamily="18" charset="0"/>
              </a:rPr>
              <a:t>Future Scope </a:t>
            </a:r>
            <a:endParaRPr lang="en-IN" sz="2800" b="0" i="0" u="none" strike="noStrike" dirty="0">
              <a:effectLst/>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
        <p:nvSpPr>
          <p:cNvPr id="8" name="Rectangle: Rounded Corners 7">
            <a:extLst>
              <a:ext uri="{FF2B5EF4-FFF2-40B4-BE49-F238E27FC236}">
                <a16:creationId xmlns:a16="http://schemas.microsoft.com/office/drawing/2014/main" xmlns="" id="{3EAC2F32-24D5-FDE9-EB0F-31C7733C95E6}"/>
              </a:ext>
            </a:extLst>
          </p:cNvPr>
          <p:cNvSpPr/>
          <p:nvPr/>
        </p:nvSpPr>
        <p:spPr>
          <a:xfrm>
            <a:off x="3736109" y="654371"/>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9" name="TextBox 8">
            <a:extLst>
              <a:ext uri="{FF2B5EF4-FFF2-40B4-BE49-F238E27FC236}">
                <a16:creationId xmlns:a16="http://schemas.microsoft.com/office/drawing/2014/main" xmlns="" id="{CCA499C0-FC38-6642-1E16-B8CFFC9C9314}"/>
              </a:ext>
            </a:extLst>
          </p:cNvPr>
          <p:cNvSpPr txBox="1"/>
          <p:nvPr/>
        </p:nvSpPr>
        <p:spPr>
          <a:xfrm>
            <a:off x="2660072" y="609235"/>
            <a:ext cx="6871855" cy="584775"/>
          </a:xfrm>
          <a:prstGeom prst="rect">
            <a:avLst/>
          </a:prstGeom>
          <a:noFill/>
        </p:spPr>
        <p:txBody>
          <a:bodyPr wrap="square" rtlCol="0">
            <a:spAutoFit/>
          </a:bodyPr>
          <a:lstStyle/>
          <a:p>
            <a:pPr algn="ctr"/>
            <a:r>
              <a:rPr lang="en-US" sz="3200" b="1" dirty="0">
                <a:solidFill>
                  <a:schemeClr val="bg1"/>
                </a:solidFill>
                <a:latin typeface="Times New Roman" pitchFamily="18" charset="0"/>
                <a:cs typeface="Times New Roman" pitchFamily="18" charset="0"/>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38116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338636"/>
            <a:ext cx="6871855" cy="584775"/>
          </a:xfrm>
          <a:prstGeom prst="rect">
            <a:avLst/>
          </a:prstGeom>
          <a:noFill/>
        </p:spPr>
        <p:txBody>
          <a:bodyPr wrap="square" rtlCol="0">
            <a:spAutoFit/>
          </a:bodyPr>
          <a:lstStyle/>
          <a:p>
            <a:pPr algn="ctr"/>
            <a:r>
              <a:rPr lang="en-US" sz="3200" b="1" dirty="0">
                <a:solidFill>
                  <a:schemeClr val="bg1"/>
                </a:solidFill>
                <a:latin typeface="Times New Roman" pitchFamily="18" charset="0"/>
                <a:cs typeface="Times New Roman" pitchFamily="18" charset="0"/>
              </a:rPr>
              <a:t>Abstract</a:t>
            </a:r>
          </a:p>
        </p:txBody>
      </p:sp>
      <p:sp>
        <p:nvSpPr>
          <p:cNvPr id="6" name="TextBox 5">
            <a:extLst>
              <a:ext uri="{FF2B5EF4-FFF2-40B4-BE49-F238E27FC236}">
                <a16:creationId xmlns:a16="http://schemas.microsoft.com/office/drawing/2014/main" xmlns="" id="{2B030DBD-3005-AB44-9753-DD9A11CB3E2D}"/>
              </a:ext>
            </a:extLst>
          </p:cNvPr>
          <p:cNvSpPr txBox="1"/>
          <p:nvPr/>
        </p:nvSpPr>
        <p:spPr>
          <a:xfrm>
            <a:off x="1727730" y="980998"/>
            <a:ext cx="9186487" cy="5576976"/>
          </a:xfrm>
          <a:prstGeom prst="rect">
            <a:avLst/>
          </a:prstGeom>
          <a:noFill/>
        </p:spPr>
        <p:txBody>
          <a:bodyPr wrap="square">
            <a:spAutoFit/>
          </a:bodyPr>
          <a:lstStyle/>
          <a:p>
            <a:pPr algn="just">
              <a:lnSpc>
                <a:spcPct val="150000"/>
              </a:lnSpc>
            </a:pPr>
            <a:r>
              <a:rPr lang="en-IN" sz="2000" dirty="0" err="1">
                <a:latin typeface="Times New Roman" pitchFamily="18" charset="0"/>
                <a:cs typeface="Times New Roman" pitchFamily="18" charset="0"/>
              </a:rPr>
              <a:t>CareTree</a:t>
            </a:r>
            <a:r>
              <a:rPr lang="en-IN" sz="2000" dirty="0">
                <a:latin typeface="Times New Roman" pitchFamily="18" charset="0"/>
                <a:cs typeface="Times New Roman" pitchFamily="18" charset="0"/>
              </a:rPr>
              <a:t> is a web-based Hospital Care Management System designed to simplify and organise essential hospital operations through a single platform. The system integrates patient management, doctor scheduling, appointment booking, bed and ward management, emergency dispatch, inventory management, pharmacy and laboratory services, and billing. It incorporates advanced algorithmic techniques such as string matching, dynamic programming, network flow, approximation algorithms, and randomised algorithms to demonstrate efficient searching, appointment scheduling, resource allocation, and monitoring-station placement. The project aims to reduce manual effort, improve information accessibility, and support better coordination of hospital resources. </a:t>
            </a:r>
            <a:r>
              <a:rPr lang="en-IN" sz="2000" dirty="0" err="1">
                <a:latin typeface="Times New Roman" pitchFamily="18" charset="0"/>
                <a:cs typeface="Times New Roman" pitchFamily="18" charset="0"/>
              </a:rPr>
              <a:t>CareTree</a:t>
            </a:r>
            <a:r>
              <a:rPr lang="en-IN" sz="2000" dirty="0">
                <a:latin typeface="Times New Roman" pitchFamily="18" charset="0"/>
                <a:cs typeface="Times New Roman" pitchFamily="18" charset="0"/>
              </a:rPr>
              <a:t> provides a practical application of advanced algorithms in healthcare management while offering opportunities for future improvements in automation, scalability, and real-time data processing.</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413067"/>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TextBox 2"/>
          <p:cNvSpPr txBox="1"/>
          <p:nvPr/>
        </p:nvSpPr>
        <p:spPr>
          <a:xfrm>
            <a:off x="2660072" y="364093"/>
            <a:ext cx="6871855" cy="584775"/>
          </a:xfrm>
          <a:prstGeom prst="rect">
            <a:avLst/>
          </a:prstGeom>
          <a:noFill/>
        </p:spPr>
        <p:txBody>
          <a:bodyPr wrap="square" rtlCol="0">
            <a:spAutoFit/>
          </a:bodyPr>
          <a:lstStyle/>
          <a:p>
            <a:pPr algn="ctr"/>
            <a:r>
              <a:rPr lang="en-US" sz="3200" b="1" dirty="0">
                <a:solidFill>
                  <a:schemeClr val="bg1"/>
                </a:solidFill>
                <a:latin typeface="Times New Roman" pitchFamily="18" charset="0"/>
                <a:cs typeface="Times New Roman" pitchFamily="18" charset="0"/>
              </a:rPr>
              <a:t>Introduction</a:t>
            </a:r>
          </a:p>
        </p:txBody>
      </p:sp>
      <p:sp>
        <p:nvSpPr>
          <p:cNvPr id="6" name="TextBox 5">
            <a:extLst>
              <a:ext uri="{FF2B5EF4-FFF2-40B4-BE49-F238E27FC236}">
                <a16:creationId xmlns:a16="http://schemas.microsoft.com/office/drawing/2014/main" xmlns="" id="{21124439-4AEC-9828-8AE5-F4F886055172}"/>
              </a:ext>
            </a:extLst>
          </p:cNvPr>
          <p:cNvSpPr txBox="1"/>
          <p:nvPr/>
        </p:nvSpPr>
        <p:spPr>
          <a:xfrm>
            <a:off x="2368775" y="1011478"/>
            <a:ext cx="8067040" cy="5576976"/>
          </a:xfrm>
          <a:prstGeom prst="rect">
            <a:avLst/>
          </a:prstGeom>
          <a:noFill/>
        </p:spPr>
        <p:txBody>
          <a:bodyPr wrap="square">
            <a:spAutoFit/>
          </a:bodyPr>
          <a:lstStyle/>
          <a:p>
            <a:pPr algn="just">
              <a:lnSpc>
                <a:spcPct val="150000"/>
              </a:lnSpc>
              <a:buNone/>
            </a:pPr>
            <a:r>
              <a:rPr lang="en-IN" sz="2000" dirty="0" err="1">
                <a:latin typeface="Times New Roman" pitchFamily="18" charset="0"/>
                <a:cs typeface="Times New Roman" pitchFamily="18" charset="0"/>
              </a:rPr>
              <a:t>CareTree</a:t>
            </a:r>
            <a:r>
              <a:rPr lang="en-IN" sz="2000" dirty="0">
                <a:latin typeface="Times New Roman" pitchFamily="18" charset="0"/>
                <a:cs typeface="Times New Roman" pitchFamily="18" charset="0"/>
              </a:rPr>
              <a:t> is a web-based Hospital Care Management System developed to manage and organise hospital activities efficiently through a single platform. It provides features for managing patient records, doctors, appointments, hospital beds, wards, emergency services, inventory, pharmacy, laboratory services, and billing. The system incorporates advanced algorithms such as string matching, dynamic programming, network flow, approximation, and randomised algorithms to demonstrate efficient searching, appointment scheduling, and resource allocation. </a:t>
            </a:r>
            <a:r>
              <a:rPr lang="en-IN" sz="2000" dirty="0" err="1">
                <a:latin typeface="Times New Roman" pitchFamily="18" charset="0"/>
                <a:cs typeface="Times New Roman" pitchFamily="18" charset="0"/>
              </a:rPr>
              <a:t>CareTree</a:t>
            </a:r>
            <a:r>
              <a:rPr lang="en-IN" sz="2000" dirty="0">
                <a:latin typeface="Times New Roman" pitchFamily="18" charset="0"/>
                <a:cs typeface="Times New Roman" pitchFamily="18" charset="0"/>
              </a:rPr>
              <a:t> aims to simplify hospital operations, reduce manual workload, improve coordination, and support effective utilisation of hospital resources. It also provides a practical way to understand how advanced algorithms can be applied to real-world healthcare management problems.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455599"/>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TextBox 2"/>
          <p:cNvSpPr txBox="1"/>
          <p:nvPr/>
        </p:nvSpPr>
        <p:spPr>
          <a:xfrm>
            <a:off x="2660072" y="406625"/>
            <a:ext cx="6871855" cy="584775"/>
          </a:xfrm>
          <a:prstGeom prst="rect">
            <a:avLst/>
          </a:prstGeom>
          <a:noFill/>
        </p:spPr>
        <p:txBody>
          <a:bodyPr wrap="square" rtlCol="0">
            <a:spAutoFit/>
          </a:bodyPr>
          <a:lstStyle/>
          <a:p>
            <a:pPr algn="ctr"/>
            <a:r>
              <a:rPr lang="en-US" sz="3200" b="1" dirty="0">
                <a:solidFill>
                  <a:schemeClr val="bg1"/>
                </a:solidFill>
                <a:latin typeface="Times New Roman" pitchFamily="18" charset="0"/>
                <a:cs typeface="Times New Roman" pitchFamily="18" charset="0"/>
              </a:rPr>
              <a:t>Literature Survey</a:t>
            </a:r>
          </a:p>
        </p:txBody>
      </p:sp>
      <p:sp>
        <p:nvSpPr>
          <p:cNvPr id="5" name="TextBox 4">
            <a:extLst>
              <a:ext uri="{FF2B5EF4-FFF2-40B4-BE49-F238E27FC236}">
                <a16:creationId xmlns:a16="http://schemas.microsoft.com/office/drawing/2014/main" xmlns="" id="{A3D6614B-9F43-C17E-1E78-F0915D0538A6}"/>
              </a:ext>
            </a:extLst>
          </p:cNvPr>
          <p:cNvSpPr txBox="1"/>
          <p:nvPr/>
        </p:nvSpPr>
        <p:spPr>
          <a:xfrm>
            <a:off x="1410395" y="1337084"/>
            <a:ext cx="10017760" cy="4893647"/>
          </a:xfrm>
          <a:prstGeom prst="rect">
            <a:avLst/>
          </a:prstGeom>
          <a:noFill/>
        </p:spPr>
        <p:txBody>
          <a:bodyPr wrap="square">
            <a:spAutoFit/>
          </a:bodyPr>
          <a:lstStyle/>
          <a:p>
            <a:pPr algn="just">
              <a:lnSpc>
                <a:spcPct val="150000"/>
              </a:lnSpc>
              <a:buNone/>
            </a:pPr>
            <a:r>
              <a:rPr lang="en-IN" sz="1600" dirty="0">
                <a:latin typeface="Times New Roman" pitchFamily="18" charset="0"/>
                <a:cs typeface="Times New Roman" pitchFamily="18" charset="0"/>
              </a:rPr>
              <a:t>The </a:t>
            </a:r>
            <a:r>
              <a:rPr lang="en-IN" sz="1600" dirty="0" err="1">
                <a:latin typeface="Times New Roman" pitchFamily="18" charset="0"/>
                <a:cs typeface="Times New Roman" pitchFamily="18" charset="0"/>
              </a:rPr>
              <a:t>CareTree</a:t>
            </a:r>
            <a:r>
              <a:rPr lang="en-IN" sz="1600" dirty="0">
                <a:latin typeface="Times New Roman" pitchFamily="18" charset="0"/>
                <a:cs typeface="Times New Roman" pitchFamily="18" charset="0"/>
              </a:rPr>
              <a:t> project is based on existing research and standard textbooks on algorithm design, optimisation, and healthcare management systems.</a:t>
            </a:r>
          </a:p>
          <a:p>
            <a:pPr algn="just">
              <a:lnSpc>
                <a:spcPct val="150000"/>
              </a:lnSpc>
              <a:buNone/>
            </a:pPr>
            <a:r>
              <a:rPr lang="en-IN" sz="1600" dirty="0">
                <a:latin typeface="Times New Roman" pitchFamily="18" charset="0"/>
                <a:cs typeface="Times New Roman" pitchFamily="18" charset="0"/>
              </a:rPr>
              <a:t>1. </a:t>
            </a:r>
            <a:r>
              <a:rPr lang="en-IN" sz="1600" b="1" dirty="0">
                <a:latin typeface="Times New Roman" pitchFamily="18" charset="0"/>
                <a:cs typeface="Times New Roman" pitchFamily="18" charset="0"/>
              </a:rPr>
              <a:t>Introduction to Algorithms (CLRS): </a:t>
            </a:r>
            <a:r>
              <a:rPr lang="en-IN" sz="1600" dirty="0">
                <a:latin typeface="Times New Roman" pitchFamily="18" charset="0"/>
                <a:cs typeface="Times New Roman" pitchFamily="18" charset="0"/>
              </a:rPr>
              <a:t>Provides the foundation for string matching, dynamic programming, network flow, and randomised algorithms used to demonstrate efficient searching and resource allocation.</a:t>
            </a:r>
          </a:p>
          <a:p>
            <a:pPr algn="just">
              <a:lnSpc>
                <a:spcPct val="150000"/>
              </a:lnSpc>
              <a:buNone/>
            </a:pPr>
            <a:r>
              <a:rPr lang="en-IN" sz="1600" dirty="0">
                <a:latin typeface="Times New Roman" pitchFamily="18" charset="0"/>
                <a:cs typeface="Times New Roman" pitchFamily="18" charset="0"/>
              </a:rPr>
              <a:t>2. </a:t>
            </a:r>
            <a:r>
              <a:rPr lang="en-IN" sz="1600" b="1" dirty="0">
                <a:latin typeface="Times New Roman" pitchFamily="18" charset="0"/>
                <a:cs typeface="Times New Roman" pitchFamily="18" charset="0"/>
              </a:rPr>
              <a:t>Algorithm Design by Kleinberg and Tardos: </a:t>
            </a:r>
            <a:r>
              <a:rPr lang="en-IN" sz="1600" dirty="0">
                <a:latin typeface="Times New Roman" pitchFamily="18" charset="0"/>
                <a:cs typeface="Times New Roman" pitchFamily="18" charset="0"/>
              </a:rPr>
              <a:t>Explains optimisation techniques, scheduling, network flow, and approximation algorithms that can be applied to appointment scheduling and hospital resource management.</a:t>
            </a:r>
          </a:p>
          <a:p>
            <a:pPr algn="just">
              <a:lnSpc>
                <a:spcPct val="150000"/>
              </a:lnSpc>
              <a:buNone/>
            </a:pPr>
            <a:r>
              <a:rPr lang="en-IN" sz="1600" dirty="0">
                <a:latin typeface="Times New Roman" pitchFamily="18" charset="0"/>
                <a:cs typeface="Times New Roman" pitchFamily="18" charset="0"/>
              </a:rPr>
              <a:t>3. </a:t>
            </a:r>
            <a:r>
              <a:rPr lang="en-IN" sz="1600" b="1" dirty="0">
                <a:latin typeface="Times New Roman" pitchFamily="18" charset="0"/>
                <a:cs typeface="Times New Roman" pitchFamily="18" charset="0"/>
              </a:rPr>
              <a:t>Algorithms by Jeff Erickson: </a:t>
            </a:r>
            <a:r>
              <a:rPr lang="en-IN" sz="1600" dirty="0">
                <a:latin typeface="Times New Roman" pitchFamily="18" charset="0"/>
                <a:cs typeface="Times New Roman" pitchFamily="18" charset="0"/>
              </a:rPr>
              <a:t>Provides clear explanations of algorithm design, correctness, and computational complexity, supporting the implementation of advanced algorithms in </a:t>
            </a:r>
            <a:r>
              <a:rPr lang="en-IN" sz="1600" dirty="0" err="1">
                <a:latin typeface="Times New Roman" pitchFamily="18" charset="0"/>
                <a:cs typeface="Times New Roman" pitchFamily="18" charset="0"/>
              </a:rPr>
              <a:t>CareTree</a:t>
            </a:r>
            <a:r>
              <a:rPr lang="en-IN" sz="1600" dirty="0">
                <a:latin typeface="Times New Roman" pitchFamily="18" charset="0"/>
                <a:cs typeface="Times New Roman" pitchFamily="18" charset="0"/>
              </a:rPr>
              <a:t>.</a:t>
            </a:r>
          </a:p>
          <a:p>
            <a:pPr algn="just">
              <a:lnSpc>
                <a:spcPct val="150000"/>
              </a:lnSpc>
              <a:buNone/>
            </a:pPr>
            <a:r>
              <a:rPr lang="en-IN" sz="1600" dirty="0">
                <a:latin typeface="Times New Roman" pitchFamily="18" charset="0"/>
                <a:cs typeface="Times New Roman" pitchFamily="18" charset="0"/>
              </a:rPr>
              <a:t>4. </a:t>
            </a:r>
            <a:r>
              <a:rPr lang="en-IN" sz="1600" b="1" dirty="0">
                <a:latin typeface="Times New Roman" pitchFamily="18" charset="0"/>
                <a:cs typeface="Times New Roman" pitchFamily="18" charset="0"/>
              </a:rPr>
              <a:t>Existing Hospital Management Systems: </a:t>
            </a:r>
            <a:r>
              <a:rPr lang="en-IN" sz="1600" dirty="0">
                <a:latin typeface="Times New Roman" pitchFamily="18" charset="0"/>
                <a:cs typeface="Times New Roman" pitchFamily="18" charset="0"/>
              </a:rPr>
              <a:t>Commonly provide patient registration, appointment booking, bed allocation, pharmacy, laboratory, and billing features. </a:t>
            </a:r>
            <a:r>
              <a:rPr lang="en-IN" sz="1600" dirty="0" err="1">
                <a:latin typeface="Times New Roman" pitchFamily="18" charset="0"/>
                <a:cs typeface="Times New Roman" pitchFamily="18" charset="0"/>
              </a:rPr>
              <a:t>CareTree</a:t>
            </a:r>
            <a:r>
              <a:rPr lang="en-IN" sz="1600" dirty="0">
                <a:latin typeface="Times New Roman" pitchFamily="18" charset="0"/>
                <a:cs typeface="Times New Roman" pitchFamily="18" charset="0"/>
              </a:rPr>
              <a:t> brings these operations together and demonstrates how advanced algorithms can support scheduling and resource planning.</a:t>
            </a:r>
          </a:p>
          <a:p>
            <a:pPr algn="just">
              <a:lnSpc>
                <a:spcPct val="150000"/>
              </a:lnSpc>
              <a:buNone/>
            </a:pPr>
            <a:r>
              <a:rPr lang="en-IN" sz="1600" b="1" dirty="0">
                <a:latin typeface="Times New Roman" pitchFamily="18" charset="0"/>
                <a:cs typeface="Times New Roman" pitchFamily="18" charset="0"/>
              </a:rPr>
              <a:t>Research gap: </a:t>
            </a:r>
            <a:r>
              <a:rPr lang="en-IN" sz="1600" dirty="0" err="1">
                <a:latin typeface="Times New Roman" pitchFamily="18" charset="0"/>
                <a:cs typeface="Times New Roman" pitchFamily="18" charset="0"/>
              </a:rPr>
              <a:t>CareTree</a:t>
            </a:r>
            <a:r>
              <a:rPr lang="en-IN" sz="1600" dirty="0">
                <a:latin typeface="Times New Roman" pitchFamily="18" charset="0"/>
                <a:cs typeface="Times New Roman" pitchFamily="18" charset="0"/>
              </a:rPr>
              <a:t> connects hospital management functions with practical demonstrations of advanced algorithms, providing a platform to explore efficient searching, scheduling, and resource allocation.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464279"/>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2" name="TextBox 1"/>
          <p:cNvSpPr txBox="1"/>
          <p:nvPr/>
        </p:nvSpPr>
        <p:spPr>
          <a:xfrm>
            <a:off x="2660072" y="507307"/>
            <a:ext cx="6871855" cy="584775"/>
          </a:xfrm>
          <a:prstGeom prst="rect">
            <a:avLst/>
          </a:prstGeom>
          <a:noFill/>
        </p:spPr>
        <p:txBody>
          <a:bodyPr wrap="square" rtlCol="0">
            <a:spAutoFit/>
          </a:bodyPr>
          <a:lstStyle/>
          <a:p>
            <a:pPr algn="ctr"/>
            <a:r>
              <a:rPr lang="en-US" sz="3200" b="1" dirty="0">
                <a:solidFill>
                  <a:schemeClr val="bg1"/>
                </a:solidFill>
                <a:latin typeface="Times New Roman" pitchFamily="18" charset="0"/>
                <a:cs typeface="Times New Roman" pitchFamily="18" charset="0"/>
              </a:rPr>
              <a:t>Problem Statement and Objectives</a:t>
            </a:r>
          </a:p>
        </p:txBody>
      </p:sp>
      <p:sp>
        <p:nvSpPr>
          <p:cNvPr id="5" name="TextBox 4">
            <a:extLst>
              <a:ext uri="{FF2B5EF4-FFF2-40B4-BE49-F238E27FC236}">
                <a16:creationId xmlns:a16="http://schemas.microsoft.com/office/drawing/2014/main" xmlns="" id="{3CE659C7-07B8-EFD8-6BC5-DEAAED671373}"/>
              </a:ext>
            </a:extLst>
          </p:cNvPr>
          <p:cNvSpPr txBox="1"/>
          <p:nvPr/>
        </p:nvSpPr>
        <p:spPr>
          <a:xfrm>
            <a:off x="885371" y="1257974"/>
            <a:ext cx="10911840" cy="5355312"/>
          </a:xfrm>
          <a:prstGeom prst="rect">
            <a:avLst/>
          </a:prstGeom>
          <a:noFill/>
        </p:spPr>
        <p:txBody>
          <a:bodyPr wrap="square">
            <a:spAutoFit/>
          </a:bodyPr>
          <a:lstStyle/>
          <a:p>
            <a:pPr algn="just">
              <a:lnSpc>
                <a:spcPct val="150000"/>
              </a:lnSpc>
              <a:buNone/>
            </a:pPr>
            <a:r>
              <a:rPr lang="en-IN" sz="1600" dirty="0">
                <a:latin typeface="Times New Roman" pitchFamily="18" charset="0"/>
                <a:cs typeface="Times New Roman" pitchFamily="18" charset="0"/>
              </a:rPr>
              <a:t>Hospital operations often involve managing large amounts of patient information, doctor schedules, appointments, bed availability, emergency services, inventory, and billing. Handling these activities separately can lead to delays, scheduling conflicts, difficulty tracking resources, and increased manual effort. </a:t>
            </a:r>
            <a:r>
              <a:rPr lang="en-IN" sz="1600" dirty="0" err="1">
                <a:latin typeface="Times New Roman" pitchFamily="18" charset="0"/>
                <a:cs typeface="Times New Roman" pitchFamily="18" charset="0"/>
              </a:rPr>
              <a:t>CareTree</a:t>
            </a:r>
            <a:r>
              <a:rPr lang="en-IN" sz="1600" dirty="0">
                <a:latin typeface="Times New Roman" pitchFamily="18" charset="0"/>
                <a:cs typeface="Times New Roman" pitchFamily="18" charset="0"/>
              </a:rPr>
              <a:t> aims to integrate these essential hospital activities into a single web-based platform and demonstrate the use of advanced algorithms for efficient searching, appointment scheduling, and resource allocation.</a:t>
            </a:r>
          </a:p>
          <a:p>
            <a:pPr algn="just">
              <a:lnSpc>
                <a:spcPct val="150000"/>
              </a:lnSpc>
              <a:buNone/>
            </a:pPr>
            <a:r>
              <a:rPr lang="en-IN" sz="1600" b="1" dirty="0">
                <a:latin typeface="Times New Roman" pitchFamily="18" charset="0"/>
                <a:cs typeface="Times New Roman" pitchFamily="18" charset="0"/>
              </a:rPr>
              <a:t>Objectives</a:t>
            </a:r>
          </a:p>
          <a:p>
            <a:pPr marL="342900" lvl="0" indent="-342900" algn="just">
              <a:lnSpc>
                <a:spcPct val="150000"/>
              </a:lnSpc>
              <a:buFont typeface="Arial" panose="020B0604020202020204" pitchFamily="34" charset="0"/>
              <a:buChar char="•"/>
            </a:pPr>
            <a:r>
              <a:rPr lang="en-IN" sz="1600" b="1" dirty="0">
                <a:latin typeface="Times New Roman" pitchFamily="18" charset="0"/>
                <a:cs typeface="Times New Roman" pitchFamily="18" charset="0"/>
              </a:rPr>
              <a:t>Centralised Management</a:t>
            </a:r>
            <a:r>
              <a:rPr lang="en-IN" sz="1600" dirty="0">
                <a:latin typeface="Times New Roman" pitchFamily="18" charset="0"/>
                <a:cs typeface="Times New Roman" pitchFamily="18" charset="0"/>
              </a:rPr>
              <a:t>: Maintain patient, doctor, appointment, and hospital service information in one platform.</a:t>
            </a:r>
          </a:p>
          <a:p>
            <a:pPr marL="342900" lvl="0" indent="-342900" algn="just">
              <a:lnSpc>
                <a:spcPct val="150000"/>
              </a:lnSpc>
              <a:buFont typeface="Arial" panose="020B0604020202020204" pitchFamily="34" charset="0"/>
              <a:buChar char="•"/>
            </a:pPr>
            <a:r>
              <a:rPr lang="en-IN" sz="1600" b="1" dirty="0">
                <a:latin typeface="Times New Roman" pitchFamily="18" charset="0"/>
                <a:cs typeface="Times New Roman" pitchFamily="18" charset="0"/>
              </a:rPr>
              <a:t>Bed and Ward Management: </a:t>
            </a:r>
            <a:r>
              <a:rPr lang="en-IN" sz="1600" dirty="0">
                <a:latin typeface="Times New Roman" pitchFamily="18" charset="0"/>
                <a:cs typeface="Times New Roman" pitchFamily="18" charset="0"/>
              </a:rPr>
              <a:t>Monitor bed availability and occupancy status.</a:t>
            </a:r>
          </a:p>
          <a:p>
            <a:pPr marL="342900" lvl="0" indent="-342900" algn="just">
              <a:lnSpc>
                <a:spcPct val="150000"/>
              </a:lnSpc>
              <a:buFont typeface="Arial" panose="020B0604020202020204" pitchFamily="34" charset="0"/>
              <a:buChar char="•"/>
            </a:pPr>
            <a:r>
              <a:rPr lang="en-IN" sz="1600" b="1" dirty="0">
                <a:latin typeface="Times New Roman" pitchFamily="18" charset="0"/>
                <a:cs typeface="Times New Roman" pitchFamily="18" charset="0"/>
              </a:rPr>
              <a:t>Appointment Scheduling: </a:t>
            </a:r>
            <a:r>
              <a:rPr lang="en-IN" sz="1600" dirty="0">
                <a:latin typeface="Times New Roman" pitchFamily="18" charset="0"/>
                <a:cs typeface="Times New Roman" pitchFamily="18" charset="0"/>
              </a:rPr>
              <a:t>Manage appointments and identify scheduling conflicts.</a:t>
            </a:r>
          </a:p>
          <a:p>
            <a:pPr marL="342900" lvl="0" indent="-342900" algn="just">
              <a:lnSpc>
                <a:spcPct val="150000"/>
              </a:lnSpc>
              <a:buFont typeface="Arial" panose="020B0604020202020204" pitchFamily="34" charset="0"/>
              <a:buChar char="•"/>
            </a:pPr>
            <a:r>
              <a:rPr lang="en-IN" sz="1600" b="1" dirty="0">
                <a:latin typeface="Times New Roman" pitchFamily="18" charset="0"/>
                <a:cs typeface="Times New Roman" pitchFamily="18" charset="0"/>
              </a:rPr>
              <a:t>Emergency Management: </a:t>
            </a:r>
            <a:r>
              <a:rPr lang="en-IN" sz="1600" dirty="0">
                <a:latin typeface="Times New Roman" pitchFamily="18" charset="0"/>
                <a:cs typeface="Times New Roman" pitchFamily="18" charset="0"/>
              </a:rPr>
              <a:t>Organise emergency dispatch information.</a:t>
            </a:r>
          </a:p>
          <a:p>
            <a:pPr marL="342900" lvl="0" indent="-342900" algn="just">
              <a:lnSpc>
                <a:spcPct val="150000"/>
              </a:lnSpc>
              <a:buFont typeface="Arial" panose="020B0604020202020204" pitchFamily="34" charset="0"/>
              <a:buChar char="•"/>
            </a:pPr>
            <a:r>
              <a:rPr lang="en-IN" sz="1600" b="1" dirty="0">
                <a:latin typeface="Times New Roman" pitchFamily="18" charset="0"/>
                <a:cs typeface="Times New Roman" pitchFamily="18" charset="0"/>
              </a:rPr>
              <a:t>Resource Allocation: </a:t>
            </a:r>
            <a:r>
              <a:rPr lang="en-IN" sz="1600" dirty="0">
                <a:latin typeface="Times New Roman" pitchFamily="18" charset="0"/>
                <a:cs typeface="Times New Roman" pitchFamily="18" charset="0"/>
              </a:rPr>
              <a:t>Demonstrate algorithms for efficient assignment and utilisation of hospital resources.</a:t>
            </a:r>
          </a:p>
          <a:p>
            <a:pPr marL="342900" lvl="0" indent="-342900" algn="just">
              <a:lnSpc>
                <a:spcPct val="150000"/>
              </a:lnSpc>
              <a:buFont typeface="Arial" panose="020B0604020202020204" pitchFamily="34" charset="0"/>
              <a:buChar char="•"/>
            </a:pPr>
            <a:r>
              <a:rPr lang="en-IN" sz="1600" b="1" dirty="0">
                <a:latin typeface="Times New Roman" pitchFamily="18" charset="0"/>
                <a:cs typeface="Times New Roman" pitchFamily="18" charset="0"/>
              </a:rPr>
              <a:t>Inventory and Billing: </a:t>
            </a:r>
            <a:r>
              <a:rPr lang="en-IN" sz="1600" dirty="0">
                <a:latin typeface="Times New Roman" pitchFamily="18" charset="0"/>
                <a:cs typeface="Times New Roman" pitchFamily="18" charset="0"/>
              </a:rPr>
              <a:t>Manage medical inventory, pharmacy, laboratory services, and billing records.</a:t>
            </a:r>
          </a:p>
          <a:p>
            <a:pPr marL="342900" lvl="0" indent="-342900" algn="just">
              <a:lnSpc>
                <a:spcPct val="150000"/>
              </a:lnSpc>
              <a:buFont typeface="Arial" panose="020B0604020202020204" pitchFamily="34" charset="0"/>
              <a:buChar char="•"/>
            </a:pPr>
            <a:r>
              <a:rPr lang="en-IN" sz="1600" b="1" dirty="0">
                <a:latin typeface="Times New Roman" pitchFamily="18" charset="0"/>
                <a:cs typeface="Times New Roman" pitchFamily="18" charset="0"/>
              </a:rPr>
              <a:t>Algorithm Integration: </a:t>
            </a:r>
            <a:r>
              <a:rPr lang="en-IN" sz="1600" dirty="0">
                <a:latin typeface="Times New Roman" pitchFamily="18" charset="0"/>
                <a:cs typeface="Times New Roman" pitchFamily="18" charset="0"/>
              </a:rPr>
              <a:t>Apply string matching, dynamic programming, network flow, approximation, and randomised algorithms to relevant hospital management tasks.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1120797"/>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753377" y="1053257"/>
            <a:ext cx="6871855" cy="584775"/>
          </a:xfrm>
          <a:prstGeom prst="rect">
            <a:avLst/>
          </a:prstGeom>
          <a:noFill/>
        </p:spPr>
        <p:txBody>
          <a:bodyPr wrap="square" rtlCol="0">
            <a:spAutoFit/>
          </a:bodyPr>
          <a:lstStyle/>
          <a:p>
            <a:pPr algn="ctr"/>
            <a:r>
              <a:rPr lang="en-US" sz="3200" b="1" dirty="0">
                <a:solidFill>
                  <a:schemeClr val="bg1"/>
                </a:solidFill>
                <a:latin typeface="Times New Roman" pitchFamily="18" charset="0"/>
                <a:cs typeface="Times New Roman" pitchFamily="18" charset="0"/>
              </a:rPr>
              <a:t>Flow Chart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224" y="1847462"/>
            <a:ext cx="8620351" cy="414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40829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TextBox 2"/>
          <p:cNvSpPr txBox="1"/>
          <p:nvPr/>
        </p:nvSpPr>
        <p:spPr>
          <a:xfrm>
            <a:off x="2660072" y="361923"/>
            <a:ext cx="6871855" cy="584775"/>
          </a:xfrm>
          <a:prstGeom prst="rect">
            <a:avLst/>
          </a:prstGeom>
          <a:noFill/>
        </p:spPr>
        <p:txBody>
          <a:bodyPr wrap="square" rtlCol="0">
            <a:spAutoFit/>
          </a:bodyPr>
          <a:lstStyle/>
          <a:p>
            <a:pPr algn="ctr"/>
            <a:r>
              <a:rPr lang="en-US" sz="3200" b="1" kern="0" dirty="0">
                <a:solidFill>
                  <a:schemeClr val="bg1"/>
                </a:solidFill>
                <a:effectLst/>
                <a:latin typeface="Times New Roman" pitchFamily="18" charset="0"/>
                <a:ea typeface="Times New Roman" pitchFamily="18" charset="0"/>
                <a:cs typeface="Times New Roman" pitchFamily="18" charset="0"/>
              </a:rPr>
              <a:t>Results</a:t>
            </a:r>
            <a:endParaRPr lang="en-US" sz="3200" b="1" dirty="0">
              <a:solidFill>
                <a:schemeClr val="bg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xmlns="" id="{A868419B-E262-5D03-8FF2-CFE7130AEF9B}"/>
              </a:ext>
            </a:extLst>
          </p:cNvPr>
          <p:cNvSpPr txBox="1"/>
          <p:nvPr/>
        </p:nvSpPr>
        <p:spPr>
          <a:xfrm>
            <a:off x="2082802" y="1181670"/>
            <a:ext cx="8890000" cy="5355312"/>
          </a:xfrm>
          <a:prstGeom prst="rect">
            <a:avLst/>
          </a:prstGeom>
          <a:noFill/>
        </p:spPr>
        <p:txBody>
          <a:bodyPr wrap="square">
            <a:spAutoFit/>
          </a:bodyPr>
          <a:lstStyle/>
          <a:p>
            <a:pPr algn="just">
              <a:lnSpc>
                <a:spcPct val="150000"/>
              </a:lnSpc>
              <a:buNone/>
            </a:pPr>
            <a:r>
              <a:rPr lang="en-IN" sz="1600" dirty="0">
                <a:latin typeface="Times New Roman" pitchFamily="18" charset="0"/>
                <a:cs typeface="Times New Roman" pitchFamily="18" charset="0"/>
              </a:rPr>
              <a:t>The </a:t>
            </a:r>
            <a:r>
              <a:rPr lang="en-IN" sz="1600" dirty="0" err="1">
                <a:latin typeface="Times New Roman" pitchFamily="18" charset="0"/>
                <a:cs typeface="Times New Roman" pitchFamily="18" charset="0"/>
              </a:rPr>
              <a:t>CareTree</a:t>
            </a:r>
            <a:r>
              <a:rPr lang="en-IN" sz="1600" dirty="0">
                <a:latin typeface="Times New Roman" pitchFamily="18" charset="0"/>
                <a:cs typeface="Times New Roman" pitchFamily="18" charset="0"/>
              </a:rPr>
              <a:t> Hospital Care Management System provides a unified interface for managing essential hospital operations. The system includes patient and doctor management, appointment scheduling, bed and ward monitoring, emergency dispatch, inventory management, pharmacy and laboratory services, and billing.</a:t>
            </a:r>
          </a:p>
          <a:p>
            <a:pPr marL="342900" lvl="0" indent="-342900" algn="just">
              <a:lnSpc>
                <a:spcPct val="150000"/>
              </a:lnSpc>
              <a:buFont typeface="Arial" panose="020B0604020202020204" pitchFamily="34" charset="0"/>
              <a:buChar char="•"/>
            </a:pPr>
            <a:r>
              <a:rPr lang="en-IN" sz="1600" dirty="0">
                <a:latin typeface="Times New Roman" pitchFamily="18" charset="0"/>
                <a:cs typeface="Times New Roman" pitchFamily="18" charset="0"/>
              </a:rPr>
              <a:t>Centralised Dashboard: Displays important hospital information in one place.</a:t>
            </a:r>
          </a:p>
          <a:p>
            <a:pPr marL="342900" lvl="0" indent="-342900" algn="just">
              <a:lnSpc>
                <a:spcPct val="150000"/>
              </a:lnSpc>
              <a:buFont typeface="Arial" panose="020B0604020202020204" pitchFamily="34" charset="0"/>
              <a:buChar char="•"/>
            </a:pPr>
            <a:r>
              <a:rPr lang="en-IN" sz="1600" dirty="0">
                <a:latin typeface="Times New Roman" pitchFamily="18" charset="0"/>
                <a:cs typeface="Times New Roman" pitchFamily="18" charset="0"/>
              </a:rPr>
              <a:t>Patient and Doctor Management: Supports organising and accessing patient and doctor records.</a:t>
            </a:r>
          </a:p>
          <a:p>
            <a:pPr marL="342900" lvl="0" indent="-342900" algn="just">
              <a:lnSpc>
                <a:spcPct val="150000"/>
              </a:lnSpc>
              <a:buFont typeface="Arial" panose="020B0604020202020204" pitchFamily="34" charset="0"/>
              <a:buChar char="•"/>
            </a:pPr>
            <a:r>
              <a:rPr lang="en-IN" sz="1600" dirty="0">
                <a:latin typeface="Times New Roman" pitchFamily="18" charset="0"/>
                <a:cs typeface="Times New Roman" pitchFamily="18" charset="0"/>
              </a:rPr>
              <a:t>Appointment Scheduling: Helps identify scheduling conflicts and prioritise appointments.</a:t>
            </a:r>
          </a:p>
          <a:p>
            <a:pPr marL="342900" lvl="0" indent="-342900" algn="just">
              <a:lnSpc>
                <a:spcPct val="150000"/>
              </a:lnSpc>
              <a:buFont typeface="Arial" panose="020B0604020202020204" pitchFamily="34" charset="0"/>
              <a:buChar char="•"/>
            </a:pPr>
            <a:r>
              <a:rPr lang="en-IN" sz="1600" dirty="0">
                <a:latin typeface="Times New Roman" pitchFamily="18" charset="0"/>
                <a:cs typeface="Times New Roman" pitchFamily="18" charset="0"/>
              </a:rPr>
              <a:t>Bed and Ward Monitoring: Displays bed availability and occupancy information.</a:t>
            </a:r>
          </a:p>
          <a:p>
            <a:pPr marL="342900" lvl="0" indent="-342900" algn="just">
              <a:lnSpc>
                <a:spcPct val="150000"/>
              </a:lnSpc>
              <a:buFont typeface="Arial" panose="020B0604020202020204" pitchFamily="34" charset="0"/>
              <a:buChar char="•"/>
            </a:pPr>
            <a:r>
              <a:rPr lang="en-IN" sz="1600" dirty="0">
                <a:latin typeface="Times New Roman" pitchFamily="18" charset="0"/>
                <a:cs typeface="Times New Roman" pitchFamily="18" charset="0"/>
              </a:rPr>
              <a:t>Resource Management: Demonstrates advanced algorithms for searching, scheduling, and resource allocation.</a:t>
            </a:r>
          </a:p>
          <a:p>
            <a:pPr marL="342900" lvl="0" indent="-342900" algn="just">
              <a:lnSpc>
                <a:spcPct val="150000"/>
              </a:lnSpc>
              <a:buFont typeface="Arial" panose="020B0604020202020204" pitchFamily="34" charset="0"/>
              <a:buChar char="•"/>
            </a:pPr>
            <a:r>
              <a:rPr lang="en-IN" sz="1600" dirty="0">
                <a:latin typeface="Times New Roman" pitchFamily="18" charset="0"/>
                <a:cs typeface="Times New Roman" pitchFamily="18" charset="0"/>
              </a:rPr>
              <a:t>Integrated Hospital Services: Organises emergency, inventory, pharmacy, laboratory, and billing operations.</a:t>
            </a:r>
          </a:p>
          <a:p>
            <a:pPr algn="just">
              <a:lnSpc>
                <a:spcPct val="150000"/>
              </a:lnSpc>
              <a:buNone/>
            </a:pPr>
            <a:r>
              <a:rPr lang="en-IN" sz="1600" dirty="0">
                <a:latin typeface="Times New Roman" pitchFamily="18" charset="0"/>
                <a:cs typeface="Times New Roman" pitchFamily="18" charset="0"/>
              </a:rPr>
              <a:t>Overall result: </a:t>
            </a:r>
            <a:r>
              <a:rPr lang="en-IN" sz="1600" dirty="0" err="1">
                <a:latin typeface="Times New Roman" pitchFamily="18" charset="0"/>
                <a:cs typeface="Times New Roman" pitchFamily="18" charset="0"/>
              </a:rPr>
              <a:t>CareTree</a:t>
            </a:r>
            <a:r>
              <a:rPr lang="en-IN" sz="1600" dirty="0">
                <a:latin typeface="Times New Roman" pitchFamily="18" charset="0"/>
                <a:cs typeface="Times New Roman" pitchFamily="18" charset="0"/>
              </a:rPr>
              <a:t> demonstrates how a single web-based platform can organise hospital workflows and apply advanced algorithms to healthcare management problems.</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Times New Roman" pitchFamily="18" charset="0"/>
              <a:cs typeface="Times New Roman" pitchFamily="18" charset="0"/>
            </a:endParaRPr>
          </a:p>
        </p:txBody>
      </p:sp>
      <p:sp>
        <p:nvSpPr>
          <p:cNvPr id="3" name="TextBox 2"/>
          <p:cNvSpPr txBox="1"/>
          <p:nvPr/>
        </p:nvSpPr>
        <p:spPr>
          <a:xfrm>
            <a:off x="3818439" y="302403"/>
            <a:ext cx="6871855" cy="523220"/>
          </a:xfrm>
          <a:prstGeom prst="rect">
            <a:avLst/>
          </a:prstGeom>
          <a:noFill/>
        </p:spPr>
        <p:txBody>
          <a:bodyPr wrap="square" rtlCol="0">
            <a:spAutoFit/>
          </a:bodyPr>
          <a:lstStyle/>
          <a:p>
            <a:r>
              <a:rPr lang="en-US" sz="2800" b="1" kern="0" dirty="0">
                <a:solidFill>
                  <a:schemeClr val="bg1"/>
                </a:solidFill>
                <a:effectLst/>
                <a:latin typeface="Times New Roman" pitchFamily="18" charset="0"/>
                <a:ea typeface="Times New Roman" pitchFamily="18" charset="0"/>
                <a:cs typeface="Times New Roman" pitchFamily="18" charset="0"/>
              </a:rPr>
              <a:t>Hardware and Software requirements</a:t>
            </a:r>
            <a:endParaRPr lang="en-US" sz="2800" b="1" dirty="0">
              <a:solidFill>
                <a:schemeClr val="bg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xmlns="" id="{71491E53-0D9C-8F42-5288-D4F7AADFC060}"/>
              </a:ext>
            </a:extLst>
          </p:cNvPr>
          <p:cNvSpPr txBox="1"/>
          <p:nvPr/>
        </p:nvSpPr>
        <p:spPr>
          <a:xfrm>
            <a:off x="1818955" y="1005632"/>
            <a:ext cx="8890000" cy="5224315"/>
          </a:xfrm>
          <a:prstGeom prst="rect">
            <a:avLst/>
          </a:prstGeom>
          <a:noFill/>
        </p:spPr>
        <p:txBody>
          <a:bodyPr wrap="square">
            <a:spAutoFit/>
          </a:bodyPr>
          <a:lstStyle/>
          <a:p>
            <a:pPr algn="just">
              <a:lnSpc>
                <a:spcPct val="150000"/>
              </a:lnSpc>
              <a:buNone/>
            </a:pPr>
            <a:r>
              <a:rPr lang="en-IN" sz="1400" b="1" dirty="0">
                <a:latin typeface="Times New Roman" pitchFamily="18" charset="0"/>
                <a:cs typeface="Times New Roman" pitchFamily="18" charset="0"/>
              </a:rPr>
              <a:t>1. Hardware Requirements</a:t>
            </a:r>
          </a:p>
          <a:p>
            <a:pPr marL="342900" lvl="0" indent="-342900" algn="just">
              <a:lnSpc>
                <a:spcPct val="150000"/>
              </a:lnSpc>
              <a:buFont typeface="Arial" panose="020B0604020202020204" pitchFamily="34" charset="0"/>
              <a:buChar char="•"/>
            </a:pPr>
            <a:r>
              <a:rPr lang="en-IN" sz="1400" dirty="0">
                <a:latin typeface="Times New Roman" pitchFamily="18" charset="0"/>
                <a:cs typeface="Times New Roman" pitchFamily="18" charset="0"/>
              </a:rPr>
              <a:t>Processor: Intel Core i3 or equivalent and above.</a:t>
            </a:r>
          </a:p>
          <a:p>
            <a:pPr marL="342900" lvl="0" indent="-342900" algn="just">
              <a:lnSpc>
                <a:spcPct val="150000"/>
              </a:lnSpc>
              <a:buFont typeface="Arial" panose="020B0604020202020204" pitchFamily="34" charset="0"/>
              <a:buChar char="•"/>
            </a:pPr>
            <a:r>
              <a:rPr lang="en-IN" sz="1400" dirty="0">
                <a:latin typeface="Times New Roman" pitchFamily="18" charset="0"/>
                <a:cs typeface="Times New Roman" pitchFamily="18" charset="0"/>
              </a:rPr>
              <a:t>RAM: Minimum 4 GB; 8 GB recommended.</a:t>
            </a:r>
          </a:p>
          <a:p>
            <a:pPr marL="342900" lvl="0" indent="-342900" algn="just">
              <a:lnSpc>
                <a:spcPct val="150000"/>
              </a:lnSpc>
              <a:buFont typeface="Arial" panose="020B0604020202020204" pitchFamily="34" charset="0"/>
              <a:buChar char="•"/>
            </a:pPr>
            <a:r>
              <a:rPr lang="en-IN" sz="1400" dirty="0">
                <a:latin typeface="Times New Roman" pitchFamily="18" charset="0"/>
                <a:cs typeface="Times New Roman" pitchFamily="18" charset="0"/>
              </a:rPr>
              <a:t>Hard Disk: Minimum 500 MB of free space for project files and data.</a:t>
            </a:r>
          </a:p>
          <a:p>
            <a:pPr marL="342900" lvl="0" indent="-342900" algn="just">
              <a:lnSpc>
                <a:spcPct val="150000"/>
              </a:lnSpc>
              <a:buFont typeface="Arial" panose="020B0604020202020204" pitchFamily="34" charset="0"/>
              <a:buChar char="•"/>
            </a:pPr>
            <a:r>
              <a:rPr lang="en-IN" sz="1400" dirty="0">
                <a:latin typeface="Times New Roman" pitchFamily="18" charset="0"/>
                <a:cs typeface="Times New Roman" pitchFamily="18" charset="0"/>
              </a:rPr>
              <a:t>Input Devices: Keyboard and mouse.</a:t>
            </a:r>
          </a:p>
          <a:p>
            <a:pPr marL="342900" lvl="0" indent="-342900" algn="just">
              <a:lnSpc>
                <a:spcPct val="150000"/>
              </a:lnSpc>
              <a:buFont typeface="Arial" panose="020B0604020202020204" pitchFamily="34" charset="0"/>
              <a:buChar char="•"/>
            </a:pPr>
            <a:r>
              <a:rPr lang="en-IN" sz="1400" dirty="0">
                <a:latin typeface="Times New Roman" pitchFamily="18" charset="0"/>
                <a:cs typeface="Times New Roman" pitchFamily="18" charset="0"/>
              </a:rPr>
              <a:t>Output Device: Monitor or laptop display.</a:t>
            </a:r>
          </a:p>
          <a:p>
            <a:pPr marL="342900" lvl="0" indent="-342900" algn="just">
              <a:lnSpc>
                <a:spcPct val="150000"/>
              </a:lnSpc>
              <a:buFont typeface="Arial" panose="020B0604020202020204" pitchFamily="34" charset="0"/>
              <a:buChar char="•"/>
            </a:pPr>
            <a:r>
              <a:rPr lang="en-IN" sz="1400" dirty="0">
                <a:latin typeface="Times New Roman" pitchFamily="18" charset="0"/>
                <a:cs typeface="Times New Roman" pitchFamily="18" charset="0"/>
              </a:rPr>
              <a:t>Network: Internet connection for accessing the website and external resources, if required.</a:t>
            </a:r>
          </a:p>
          <a:p>
            <a:pPr algn="just">
              <a:lnSpc>
                <a:spcPct val="150000"/>
              </a:lnSpc>
              <a:buNone/>
            </a:pPr>
            <a:r>
              <a:rPr lang="en-IN" sz="1400" b="1" dirty="0">
                <a:latin typeface="Times New Roman" pitchFamily="18" charset="0"/>
                <a:cs typeface="Times New Roman" pitchFamily="18" charset="0"/>
              </a:rPr>
              <a:t>2. Software Requirements</a:t>
            </a:r>
          </a:p>
          <a:p>
            <a:pPr marL="342900" lvl="0" indent="-342900" algn="just">
              <a:lnSpc>
                <a:spcPct val="150000"/>
              </a:lnSpc>
              <a:buFont typeface="Arial" panose="020B0604020202020204" pitchFamily="34" charset="0"/>
              <a:buChar char="•"/>
            </a:pPr>
            <a:r>
              <a:rPr lang="en-IN" sz="1400" dirty="0">
                <a:latin typeface="Times New Roman" pitchFamily="18" charset="0"/>
                <a:cs typeface="Times New Roman" pitchFamily="18" charset="0"/>
              </a:rPr>
              <a:t>Operating System: Windows 10/11, Linux, or macOS.</a:t>
            </a:r>
          </a:p>
          <a:p>
            <a:pPr marL="342900" lvl="0" indent="-342900" algn="just">
              <a:lnSpc>
                <a:spcPct val="150000"/>
              </a:lnSpc>
              <a:buFont typeface="Arial" panose="020B0604020202020204" pitchFamily="34" charset="0"/>
              <a:buChar char="•"/>
            </a:pPr>
            <a:r>
              <a:rPr lang="en-IN" sz="1400" dirty="0">
                <a:latin typeface="Times New Roman" pitchFamily="18" charset="0"/>
                <a:cs typeface="Times New Roman" pitchFamily="18" charset="0"/>
              </a:rPr>
              <a:t>Frontend Technologies: HTML, CSS, and JavaScript.</a:t>
            </a:r>
          </a:p>
          <a:p>
            <a:pPr marL="342900" lvl="0" indent="-342900" algn="just">
              <a:lnSpc>
                <a:spcPct val="150000"/>
              </a:lnSpc>
              <a:buFont typeface="Arial" panose="020B0604020202020204" pitchFamily="34" charset="0"/>
              <a:buChar char="•"/>
            </a:pPr>
            <a:r>
              <a:rPr lang="en-IN" sz="1400" dirty="0">
                <a:latin typeface="Times New Roman" pitchFamily="18" charset="0"/>
                <a:cs typeface="Times New Roman" pitchFamily="18" charset="0"/>
              </a:rPr>
              <a:t>Development Environment: Visual Studio Code.</a:t>
            </a:r>
          </a:p>
          <a:p>
            <a:pPr marL="342900" lvl="0" indent="-342900" algn="just">
              <a:lnSpc>
                <a:spcPct val="150000"/>
              </a:lnSpc>
              <a:buFont typeface="Arial" panose="020B0604020202020204" pitchFamily="34" charset="0"/>
              <a:buChar char="•"/>
            </a:pPr>
            <a:r>
              <a:rPr lang="en-IN" sz="1400" dirty="0">
                <a:latin typeface="Times New Roman" pitchFamily="18" charset="0"/>
                <a:cs typeface="Times New Roman" pitchFamily="18" charset="0"/>
              </a:rPr>
              <a:t>Web Browser: Google Chrome, Microsoft Edge, or Mozilla Firefox.</a:t>
            </a:r>
          </a:p>
          <a:p>
            <a:pPr marL="342900" lvl="0" indent="-342900" algn="just">
              <a:lnSpc>
                <a:spcPct val="150000"/>
              </a:lnSpc>
              <a:buFont typeface="Arial" panose="020B0604020202020204" pitchFamily="34" charset="0"/>
              <a:buChar char="•"/>
            </a:pPr>
            <a:r>
              <a:rPr lang="en-IN" sz="1400" dirty="0">
                <a:latin typeface="Times New Roman" pitchFamily="18" charset="0"/>
                <a:cs typeface="Times New Roman" pitchFamily="18" charset="0"/>
              </a:rPr>
              <a:t>Data Storage: Browser Local Storage for prototype data.</a:t>
            </a:r>
          </a:p>
          <a:p>
            <a:pPr marL="342900" lvl="0" indent="-342900" algn="just">
              <a:lnSpc>
                <a:spcPct val="150000"/>
              </a:lnSpc>
              <a:buFont typeface="Arial" panose="020B0604020202020204" pitchFamily="34" charset="0"/>
              <a:buChar char="•"/>
            </a:pPr>
            <a:r>
              <a:rPr lang="en-IN" sz="1400" dirty="0">
                <a:latin typeface="Times New Roman" pitchFamily="18" charset="0"/>
                <a:cs typeface="Times New Roman" pitchFamily="18" charset="0"/>
              </a:rPr>
              <a:t>Libraries: JavaScript libraries used by the project, such as Chart.js if included.</a:t>
            </a:r>
          </a:p>
          <a:p>
            <a:pPr algn="just">
              <a:lnSpc>
                <a:spcPct val="150000"/>
              </a:lnSpc>
              <a:buNone/>
            </a:pPr>
            <a:r>
              <a:rPr lang="en-IN" sz="1400" dirty="0">
                <a:latin typeface="Times New Roman" pitchFamily="18" charset="0"/>
                <a:cs typeface="Times New Roman" pitchFamily="18" charset="0"/>
              </a:rPr>
              <a:t>These requirements support the development and execution of </a:t>
            </a:r>
            <a:r>
              <a:rPr lang="en-IN" sz="1400" dirty="0" err="1">
                <a:latin typeface="Times New Roman" pitchFamily="18" charset="0"/>
                <a:cs typeface="Times New Roman" pitchFamily="18" charset="0"/>
              </a:rPr>
              <a:t>CareTree</a:t>
            </a:r>
            <a:r>
              <a:rPr lang="en-IN" sz="1400" dirty="0">
                <a:latin typeface="Times New Roman" pitchFamily="18" charset="0"/>
                <a:cs typeface="Times New Roman" pitchFamily="18" charset="0"/>
              </a:rPr>
              <a:t>, a web-based hospital care management system that demonstrates advanced algorithms for searching, scheduling, and resource management.</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latin typeface="Times New Roman" pitchFamily="18" charset="0"/>
                <a:cs typeface="Times New Roman" pitchFamily="18" charset="0"/>
              </a:rPr>
              <a:t>Conclusion</a:t>
            </a:r>
          </a:p>
        </p:txBody>
      </p:sp>
      <p:sp>
        <p:nvSpPr>
          <p:cNvPr id="5" name="TextBox 4">
            <a:extLst>
              <a:ext uri="{FF2B5EF4-FFF2-40B4-BE49-F238E27FC236}">
                <a16:creationId xmlns:a16="http://schemas.microsoft.com/office/drawing/2014/main" xmlns="" id="{F9735300-03BC-721A-A6C6-B15ADD5338C4}"/>
              </a:ext>
            </a:extLst>
          </p:cNvPr>
          <p:cNvSpPr txBox="1"/>
          <p:nvPr/>
        </p:nvSpPr>
        <p:spPr>
          <a:xfrm>
            <a:off x="1860524" y="1003976"/>
            <a:ext cx="8869680" cy="5115311"/>
          </a:xfrm>
          <a:prstGeom prst="rect">
            <a:avLst/>
          </a:prstGeom>
          <a:noFill/>
        </p:spPr>
        <p:txBody>
          <a:bodyPr wrap="square">
            <a:spAutoFit/>
          </a:bodyPr>
          <a:lstStyle/>
          <a:p>
            <a:pPr algn="just">
              <a:lnSpc>
                <a:spcPct val="150000"/>
              </a:lnSpc>
            </a:pPr>
            <a:r>
              <a:rPr lang="en-IN" sz="2000" dirty="0" err="1">
                <a:latin typeface="Times New Roman" pitchFamily="18" charset="0"/>
                <a:cs typeface="Times New Roman" pitchFamily="18" charset="0"/>
              </a:rPr>
              <a:t>CareTree</a:t>
            </a:r>
            <a:r>
              <a:rPr lang="en-IN" sz="2000" dirty="0">
                <a:latin typeface="Times New Roman" pitchFamily="18" charset="0"/>
                <a:cs typeface="Times New Roman" pitchFamily="18" charset="0"/>
              </a:rPr>
              <a:t> is a web-based Hospital Care Management System designed to simplify and organise essential hospital operations through a unified platform. It integrates patient and doctor management, appointment scheduling, bed and ward monitoring, emergency dispatch, inventory, pharmacy, laboratory services, and billing. The project demonstrates the practical application of advanced algorithms, including string matching, dynamic programming, network flow, approximation, and randomised algorithms, to searching, scheduling, and resource allocation problems. Overall, </a:t>
            </a:r>
            <a:r>
              <a:rPr lang="en-IN" sz="2000" dirty="0" err="1">
                <a:latin typeface="Times New Roman" pitchFamily="18" charset="0"/>
                <a:cs typeface="Times New Roman" pitchFamily="18" charset="0"/>
              </a:rPr>
              <a:t>CareTree</a:t>
            </a:r>
            <a:r>
              <a:rPr lang="en-IN" sz="2000" dirty="0">
                <a:latin typeface="Times New Roman" pitchFamily="18" charset="0"/>
                <a:cs typeface="Times New Roman" pitchFamily="18" charset="0"/>
              </a:rPr>
              <a:t> provides a foundation for improving hospital workflow organisation, reducing manual effort, and supporting efficient resource management. In the future, the system can be enhanced with real-time updates, secure database integration, and automated decision-support features.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latin typeface="Times New Roman" pitchFamily="18" charset="0"/>
                <a:cs typeface="Times New Roman" pitchFamily="18" charset="0"/>
              </a:rPr>
              <a:t> Future Scope</a:t>
            </a:r>
          </a:p>
        </p:txBody>
      </p:sp>
      <p:sp>
        <p:nvSpPr>
          <p:cNvPr id="5" name="TextBox 4">
            <a:extLst>
              <a:ext uri="{FF2B5EF4-FFF2-40B4-BE49-F238E27FC236}">
                <a16:creationId xmlns:a16="http://schemas.microsoft.com/office/drawing/2014/main" xmlns="" id="{331BC62D-CF65-9CC3-3856-C1D353909150}"/>
              </a:ext>
            </a:extLst>
          </p:cNvPr>
          <p:cNvSpPr txBox="1"/>
          <p:nvPr/>
        </p:nvSpPr>
        <p:spPr>
          <a:xfrm>
            <a:off x="1845387" y="957528"/>
            <a:ext cx="8940800" cy="5588068"/>
          </a:xfrm>
          <a:prstGeom prst="rect">
            <a:avLst/>
          </a:prstGeom>
          <a:noFill/>
        </p:spPr>
        <p:txBody>
          <a:bodyPr wrap="square">
            <a:spAutoFit/>
          </a:bodyPr>
          <a:lstStyle/>
          <a:p>
            <a:pPr marL="342900" lvl="0" indent="-342900" algn="just">
              <a:lnSpc>
                <a:spcPct val="150000"/>
              </a:lnSpc>
              <a:buFont typeface="Wingdings" pitchFamily="2" charset="2"/>
              <a:buChar char="q"/>
            </a:pPr>
            <a:r>
              <a:rPr lang="en-IN" sz="1600" dirty="0">
                <a:latin typeface="Times New Roman" pitchFamily="18" charset="0"/>
                <a:cs typeface="Times New Roman" pitchFamily="18" charset="0"/>
              </a:rPr>
              <a:t>Real-Time Updates: Integrate real-time bed availability, patient status, and inventory updates.</a:t>
            </a:r>
          </a:p>
          <a:p>
            <a:pPr marL="342900" lvl="0" indent="-342900" algn="just">
              <a:lnSpc>
                <a:spcPct val="150000"/>
              </a:lnSpc>
              <a:buFont typeface="Wingdings" pitchFamily="2" charset="2"/>
              <a:buChar char="q"/>
            </a:pPr>
            <a:r>
              <a:rPr lang="en-IN" sz="1600" dirty="0">
                <a:latin typeface="Times New Roman" pitchFamily="18" charset="0"/>
                <a:cs typeface="Times New Roman" pitchFamily="18" charset="0"/>
              </a:rPr>
              <a:t>AI Integration: Introduce AI-based decision support for patient prioritisation and resource planning, with appropriate clinical validation.</a:t>
            </a:r>
          </a:p>
          <a:p>
            <a:pPr marL="342900" lvl="0" indent="-342900" algn="just">
              <a:lnSpc>
                <a:spcPct val="150000"/>
              </a:lnSpc>
              <a:buFont typeface="Wingdings" pitchFamily="2" charset="2"/>
              <a:buChar char="q"/>
            </a:pPr>
            <a:r>
              <a:rPr lang="en-IN" sz="1600" dirty="0">
                <a:latin typeface="Times New Roman" pitchFamily="18" charset="0"/>
                <a:cs typeface="Times New Roman" pitchFamily="18" charset="0"/>
              </a:rPr>
              <a:t>Advanced Scheduling: Improve appointment scheduling and bed allocation using advanced optimisation algorithms.</a:t>
            </a:r>
          </a:p>
          <a:p>
            <a:pPr marL="342900" lvl="0" indent="-342900" algn="just">
              <a:lnSpc>
                <a:spcPct val="150000"/>
              </a:lnSpc>
              <a:buFont typeface="Wingdings" pitchFamily="2" charset="2"/>
              <a:buChar char="q"/>
            </a:pPr>
            <a:r>
              <a:rPr lang="en-IN" sz="1600" dirty="0">
                <a:latin typeface="Times New Roman" pitchFamily="18" charset="0"/>
                <a:cs typeface="Times New Roman" pitchFamily="18" charset="0"/>
              </a:rPr>
              <a:t>Secure Database: Integrate a centralised database with authentication, role-based access, and data encryption.</a:t>
            </a:r>
          </a:p>
          <a:p>
            <a:pPr marL="342900" lvl="0" indent="-342900" algn="just">
              <a:lnSpc>
                <a:spcPct val="150000"/>
              </a:lnSpc>
              <a:buFont typeface="Wingdings" pitchFamily="2" charset="2"/>
              <a:buChar char="q"/>
            </a:pPr>
            <a:r>
              <a:rPr lang="en-IN" sz="1600" dirty="0">
                <a:latin typeface="Times New Roman" pitchFamily="18" charset="0"/>
                <a:cs typeface="Times New Roman" pitchFamily="18" charset="0"/>
              </a:rPr>
              <a:t>Mobile Application: Develop a mobile-friendly application for doctors, nurses, administrators, and patients.</a:t>
            </a:r>
          </a:p>
          <a:p>
            <a:pPr marL="342900" lvl="0" indent="-342900" algn="just">
              <a:lnSpc>
                <a:spcPct val="150000"/>
              </a:lnSpc>
              <a:buFont typeface="Wingdings" pitchFamily="2" charset="2"/>
              <a:buChar char="q"/>
            </a:pPr>
            <a:r>
              <a:rPr lang="en-IN" sz="1600" dirty="0">
                <a:latin typeface="Times New Roman" pitchFamily="18" charset="0"/>
                <a:cs typeface="Times New Roman" pitchFamily="18" charset="0"/>
              </a:rPr>
              <a:t>Automated Notifications: Send alerts for appointments, emergencies, low inventory, and billing reminders.</a:t>
            </a:r>
          </a:p>
          <a:p>
            <a:pPr marL="342900" lvl="0" indent="-342900" algn="just">
              <a:lnSpc>
                <a:spcPct val="150000"/>
              </a:lnSpc>
              <a:buFont typeface="Wingdings" pitchFamily="2" charset="2"/>
              <a:buChar char="q"/>
            </a:pPr>
            <a:r>
              <a:rPr lang="en-IN" sz="1600" dirty="0">
                <a:latin typeface="Times New Roman" pitchFamily="18" charset="0"/>
                <a:cs typeface="Times New Roman" pitchFamily="18" charset="0"/>
              </a:rPr>
              <a:t>Data Analytics: Generate reports on bed occupancy, appointment trends, resource usage, and hospital operations.</a:t>
            </a:r>
          </a:p>
          <a:p>
            <a:pPr algn="just">
              <a:lnSpc>
                <a:spcPct val="150000"/>
              </a:lnSpc>
              <a:buNone/>
            </a:pPr>
            <a:r>
              <a:rPr lang="en-IN" sz="1600" dirty="0" smtClean="0">
                <a:latin typeface="Times New Roman" pitchFamily="18" charset="0"/>
                <a:cs typeface="Times New Roman" pitchFamily="18" charset="0"/>
              </a:rPr>
              <a:t>Overall : </a:t>
            </a:r>
            <a:r>
              <a:rPr lang="en-IN" sz="1600" dirty="0" err="1">
                <a:latin typeface="Times New Roman" pitchFamily="18" charset="0"/>
                <a:cs typeface="Times New Roman" pitchFamily="18" charset="0"/>
              </a:rPr>
              <a:t>CareTree</a:t>
            </a:r>
            <a:r>
              <a:rPr lang="en-IN" sz="1600" dirty="0">
                <a:latin typeface="Times New Roman" pitchFamily="18" charset="0"/>
                <a:cs typeface="Times New Roman" pitchFamily="18" charset="0"/>
              </a:rPr>
              <a:t> can be extended into a more secure, intelligent, and scalable hospital management platform that supports efficient healthcare operations.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Times New Roman" pitchFamily="18" charset="0"/>
                <a:cs typeface="Times New Roman" pitchFamily="18" charset="0"/>
              </a:rPr>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TotalTime>
  <Words>1300</Words>
  <Application>Microsoft Office PowerPoint</Application>
  <PresentationFormat>Custom</PresentationFormat>
  <Paragraphs>76</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       Data Structures and Algorithms -3 (25CS2103E) CareTree – Advanced Algorithm-Based Hospital Care Management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DELL</cp:lastModifiedBy>
  <cp:revision>22</cp:revision>
  <dcterms:created xsi:type="dcterms:W3CDTF">2024-08-29T05:25:00Z</dcterms:created>
  <dcterms:modified xsi:type="dcterms:W3CDTF">2026-10-11T13:25:07Z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